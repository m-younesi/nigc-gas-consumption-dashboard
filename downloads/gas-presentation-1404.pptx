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pic>
        <p:nvPicPr>
          <p:cNvPr id="2" name="Picture 1" descr="onshore.jpg"/>
          <p:cNvPicPr>
            <a:picLocks noChangeAspect="1"/>
          </p:cNvPicPr>
          <p:nvPr/>
        </p:nvPicPr>
        <p:blipFill>
          <a:blip r:embed="rId2"/>
          <a:srcRect t="6000" b="6000"/>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200400"/>
            <a:ext cx="12191695" cy="3657600"/>
          </a:xfrm>
          <a:prstGeom prst="rect">
            <a:avLst/>
          </a:prstGeom>
          <a:solidFill>
            <a:srgbClr val="0A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429000"/>
            <a:ext cx="10698480" cy="365760"/>
          </a:xfrm>
          <a:prstGeom prst="rect">
            <a:avLst/>
          </a:prstGeom>
          <a:noFill/>
        </p:spPr>
        <p:txBody>
          <a:bodyPr wrap="square" anchor="t">
            <a:spAutoFit/>
          </a:bodyPr>
          <a:lstStyle/>
          <a:p>
            <a:pPr algn="r" rtl="1">
              <a:lnSpc>
                <a:spcPct val="125000"/>
              </a:lnSpc>
            </a:pPr>
            <a:r>
              <a:rPr sz="1300" b="0">
                <a:solidFill>
                  <a:srgbClr val="A8B3C2"/>
                </a:solidFill>
                <a:latin typeface="Tahoma"/>
              </a:rPr>
              <a:t>شرکت ملی گاز ایران — مدیریت گازرسانی — امور تعرفه‌ها و قراردادها</a:t>
            </a:r>
          </a:p>
        </p:txBody>
      </p:sp>
      <p:sp>
        <p:nvSpPr>
          <p:cNvPr id="6" name="TextBox 5"/>
          <p:cNvSpPr txBox="1"/>
          <p:nvPr/>
        </p:nvSpPr>
        <p:spPr>
          <a:xfrm>
            <a:off x="731520" y="3794760"/>
            <a:ext cx="10698480" cy="1371600"/>
          </a:xfrm>
          <a:prstGeom prst="rect">
            <a:avLst/>
          </a:prstGeom>
          <a:noFill/>
        </p:spPr>
        <p:txBody>
          <a:bodyPr wrap="square" anchor="t">
            <a:spAutoFit/>
          </a:bodyPr>
          <a:lstStyle/>
          <a:p>
            <a:pPr algn="r" rtl="1">
              <a:lnSpc>
                <a:spcPct val="125000"/>
              </a:lnSpc>
            </a:pPr>
            <a:r>
              <a:rPr sz="4800" b="1">
                <a:solidFill>
                  <a:srgbClr val="F2F5F8"/>
                </a:solidFill>
                <a:latin typeface="Tahoma"/>
              </a:rPr>
              <a:t>آناتومی یک زمستان</a:t>
            </a:r>
          </a:p>
        </p:txBody>
      </p:sp>
      <p:sp>
        <p:nvSpPr>
          <p:cNvPr id="7" name="TextBox 6"/>
          <p:cNvSpPr txBox="1"/>
          <p:nvPr/>
        </p:nvSpPr>
        <p:spPr>
          <a:xfrm>
            <a:off x="731520" y="4663440"/>
            <a:ext cx="10698480" cy="731520"/>
          </a:xfrm>
          <a:prstGeom prst="rect">
            <a:avLst/>
          </a:prstGeom>
          <a:noFill/>
        </p:spPr>
        <p:txBody>
          <a:bodyPr wrap="square" anchor="t">
            <a:spAutoFit/>
          </a:bodyPr>
          <a:lstStyle/>
          <a:p>
            <a:pPr algn="r" rtl="1">
              <a:lnSpc>
                <a:spcPct val="125000"/>
              </a:lnSpc>
            </a:pPr>
            <a:r>
              <a:rPr sz="3200" b="1">
                <a:solidFill>
                  <a:srgbClr val="D95926"/>
                </a:solidFill>
                <a:latin typeface="Tahoma"/>
              </a:rPr>
              <a:t>چه کسی گاز ایران را می‌سوزاند؟</a:t>
            </a:r>
          </a:p>
        </p:txBody>
      </p:sp>
      <p:sp>
        <p:nvSpPr>
          <p:cNvPr id="8" name="TextBox 7"/>
          <p:cNvSpPr txBox="1"/>
          <p:nvPr/>
        </p:nvSpPr>
        <p:spPr>
          <a:xfrm>
            <a:off x="731520" y="5486400"/>
            <a:ext cx="10698480" cy="822960"/>
          </a:xfrm>
          <a:prstGeom prst="rect">
            <a:avLst/>
          </a:prstGeom>
          <a:noFill/>
        </p:spPr>
        <p:txBody>
          <a:bodyPr wrap="square" anchor="t">
            <a:spAutoFit/>
          </a:bodyPr>
          <a:lstStyle/>
          <a:p>
            <a:pPr algn="r" rtl="1">
              <a:lnSpc>
                <a:spcPct val="125000"/>
              </a:lnSpc>
            </a:pPr>
            <a:r>
              <a:rPr sz="1300" b="0">
                <a:solidFill>
                  <a:srgbClr val="A8B3C2"/>
                </a:solidFill>
                <a:latin typeface="Tahoma"/>
              </a:rPr>
              <a:t>تحلیل مصرف گاز خانگی به تفکیک پله و استان — ۱۴۰۴</a:t>
            </a:r>
          </a:p>
          <a:p>
            <a:pPr algn="r" rtl="1">
              <a:lnSpc>
                <a:spcPct val="125000"/>
              </a:lnSpc>
            </a:pPr>
            <a:r>
              <a:rPr sz="1300" b="0">
                <a:solidFill>
                  <a:srgbClr val="A8B3C2"/>
                </a:solidFill>
                <a:latin typeface="Tahoma"/>
              </a:rPr>
              <a:t>۳۱ استان · ۱۲ پلهٔ دورهٔ سرد · ۴ پلهٔ دورهٔ گرم · گزارش ۱۴۰۵/۰۵/۱۸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خلاصهٔ مدیریتی</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چهار عددی که کل ماجرا را می‌گوید</a:t>
            </a:r>
          </a:p>
        </p:txBody>
      </p:sp>
      <p:sp>
        <p:nvSpPr>
          <p:cNvPr id="4" name="Rounded Rectangle 3"/>
          <p:cNvSpPr/>
          <p:nvPr/>
        </p:nvSpPr>
        <p:spPr>
          <a:xfrm>
            <a:off x="8954719" y="2148840"/>
            <a:ext cx="2670048" cy="228600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569903" y="2148840"/>
            <a:ext cx="54864" cy="2286000"/>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37599" y="2377440"/>
            <a:ext cx="2258568" cy="822960"/>
          </a:xfrm>
          <a:prstGeom prst="rect">
            <a:avLst/>
          </a:prstGeom>
          <a:noFill/>
        </p:spPr>
        <p:txBody>
          <a:bodyPr wrap="square" anchor="t">
            <a:spAutoFit/>
          </a:bodyPr>
          <a:lstStyle/>
          <a:p>
            <a:pPr algn="r" rtl="1">
              <a:lnSpc>
                <a:spcPct val="125000"/>
              </a:lnSpc>
            </a:pPr>
            <a:r>
              <a:rPr sz="4000" b="1">
                <a:solidFill>
                  <a:srgbClr val="F2F5F8"/>
                </a:solidFill>
                <a:latin typeface="Tahoma"/>
              </a:rPr>
              <a:t>۸۵٫۶٪</a:t>
            </a:r>
          </a:p>
        </p:txBody>
      </p:sp>
      <p:sp>
        <p:nvSpPr>
          <p:cNvPr id="7" name="TextBox 6"/>
          <p:cNvSpPr txBox="1"/>
          <p:nvPr/>
        </p:nvSpPr>
        <p:spPr>
          <a:xfrm>
            <a:off x="9137599" y="3246120"/>
            <a:ext cx="2258568" cy="457200"/>
          </a:xfrm>
          <a:prstGeom prst="rect">
            <a:avLst/>
          </a:prstGeom>
          <a:noFill/>
        </p:spPr>
        <p:txBody>
          <a:bodyPr wrap="square" anchor="t">
            <a:spAutoFit/>
          </a:bodyPr>
          <a:lstStyle/>
          <a:p>
            <a:pPr algn="r" rtl="1">
              <a:lnSpc>
                <a:spcPct val="125000"/>
              </a:lnSpc>
            </a:pPr>
            <a:r>
              <a:rPr sz="1300" b="1">
                <a:solidFill>
                  <a:srgbClr val="F2F5F8"/>
                </a:solidFill>
                <a:latin typeface="Tahoma"/>
              </a:rPr>
              <a:t>مشترکین گروه کم‌مصرف</a:t>
            </a:r>
          </a:p>
        </p:txBody>
      </p:sp>
      <p:sp>
        <p:nvSpPr>
          <p:cNvPr id="8" name="TextBox 7"/>
          <p:cNvSpPr txBox="1"/>
          <p:nvPr/>
        </p:nvSpPr>
        <p:spPr>
          <a:xfrm>
            <a:off x="9137599" y="3703320"/>
            <a:ext cx="2258568" cy="640080"/>
          </a:xfrm>
          <a:prstGeom prst="rect">
            <a:avLst/>
          </a:prstGeom>
          <a:noFill/>
        </p:spPr>
        <p:txBody>
          <a:bodyPr wrap="square" anchor="t">
            <a:spAutoFit/>
          </a:bodyPr>
          <a:lstStyle/>
          <a:p>
            <a:pPr algn="r" rtl="1">
              <a:lnSpc>
                <a:spcPct val="125000"/>
              </a:lnSpc>
            </a:pPr>
            <a:r>
              <a:rPr sz="1100" b="0">
                <a:solidFill>
                  <a:srgbClr val="6F7D8F"/>
                </a:solidFill>
                <a:latin typeface="Tahoma"/>
              </a:rPr>
              <a:t>که ۶۶٫۹٪ از گاز را مصرف می‌کنند</a:t>
            </a:r>
          </a:p>
        </p:txBody>
      </p:sp>
      <p:sp>
        <p:nvSpPr>
          <p:cNvPr id="9" name="Rounded Rectangle 8"/>
          <p:cNvSpPr/>
          <p:nvPr/>
        </p:nvSpPr>
        <p:spPr>
          <a:xfrm>
            <a:off x="6083503" y="2148840"/>
            <a:ext cx="2670048" cy="228600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698687" y="2148840"/>
            <a:ext cx="54864" cy="2286000"/>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66383" y="2377440"/>
            <a:ext cx="2258568" cy="822960"/>
          </a:xfrm>
          <a:prstGeom prst="rect">
            <a:avLst/>
          </a:prstGeom>
          <a:noFill/>
        </p:spPr>
        <p:txBody>
          <a:bodyPr wrap="square" anchor="t">
            <a:spAutoFit/>
          </a:bodyPr>
          <a:lstStyle/>
          <a:p>
            <a:pPr algn="r" rtl="1">
              <a:lnSpc>
                <a:spcPct val="125000"/>
              </a:lnSpc>
            </a:pPr>
            <a:r>
              <a:rPr sz="4000" b="1">
                <a:solidFill>
                  <a:srgbClr val="F2F5F8"/>
                </a:solidFill>
                <a:latin typeface="Tahoma"/>
              </a:rPr>
              <a:t>۳۳٫۱٪</a:t>
            </a:r>
          </a:p>
        </p:txBody>
      </p:sp>
      <p:sp>
        <p:nvSpPr>
          <p:cNvPr id="12" name="TextBox 11"/>
          <p:cNvSpPr txBox="1"/>
          <p:nvPr/>
        </p:nvSpPr>
        <p:spPr>
          <a:xfrm>
            <a:off x="6266383" y="3246120"/>
            <a:ext cx="2258568" cy="457200"/>
          </a:xfrm>
          <a:prstGeom prst="rect">
            <a:avLst/>
          </a:prstGeom>
          <a:noFill/>
        </p:spPr>
        <p:txBody>
          <a:bodyPr wrap="square" anchor="t">
            <a:spAutoFit/>
          </a:bodyPr>
          <a:lstStyle/>
          <a:p>
            <a:pPr algn="r" rtl="1">
              <a:lnSpc>
                <a:spcPct val="125000"/>
              </a:lnSpc>
            </a:pPr>
            <a:r>
              <a:rPr sz="1300" b="1">
                <a:solidFill>
                  <a:srgbClr val="F2F5F8"/>
                </a:solidFill>
                <a:latin typeface="Tahoma"/>
              </a:rPr>
              <a:t>گاز سوخته بالاتر از الگو</a:t>
            </a:r>
          </a:p>
        </p:txBody>
      </p:sp>
      <p:sp>
        <p:nvSpPr>
          <p:cNvPr id="13" name="TextBox 12"/>
          <p:cNvSpPr txBox="1"/>
          <p:nvPr/>
        </p:nvSpPr>
        <p:spPr>
          <a:xfrm>
            <a:off x="6266383" y="3703320"/>
            <a:ext cx="2258568" cy="640080"/>
          </a:xfrm>
          <a:prstGeom prst="rect">
            <a:avLst/>
          </a:prstGeom>
          <a:noFill/>
        </p:spPr>
        <p:txBody>
          <a:bodyPr wrap="square" anchor="t">
            <a:spAutoFit/>
          </a:bodyPr>
          <a:lstStyle/>
          <a:p>
            <a:pPr algn="r" rtl="1">
              <a:lnSpc>
                <a:spcPct val="125000"/>
              </a:lnSpc>
            </a:pPr>
            <a:r>
              <a:rPr sz="1100" b="0">
                <a:solidFill>
                  <a:srgbClr val="6F7D8F"/>
                </a:solidFill>
                <a:latin typeface="Tahoma"/>
              </a:rPr>
              <a:t>توسط تنها ۱۴٫۴٪ از مشترکین</a:t>
            </a:r>
          </a:p>
        </p:txBody>
      </p:sp>
      <p:sp>
        <p:nvSpPr>
          <p:cNvPr id="14" name="Rounded Rectangle 13"/>
          <p:cNvSpPr/>
          <p:nvPr/>
        </p:nvSpPr>
        <p:spPr>
          <a:xfrm>
            <a:off x="3212287" y="2148840"/>
            <a:ext cx="2670048" cy="228600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827471" y="2148840"/>
            <a:ext cx="54864" cy="2286000"/>
          </a:xfrm>
          <a:prstGeom prst="rect">
            <a:avLst/>
          </a:prstGeom>
          <a:solidFill>
            <a:srgbClr val="E08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95167" y="2377440"/>
            <a:ext cx="2258568" cy="822960"/>
          </a:xfrm>
          <a:prstGeom prst="rect">
            <a:avLst/>
          </a:prstGeom>
          <a:noFill/>
        </p:spPr>
        <p:txBody>
          <a:bodyPr wrap="square" anchor="t">
            <a:spAutoFit/>
          </a:bodyPr>
          <a:lstStyle/>
          <a:p>
            <a:pPr algn="r" rtl="1">
              <a:lnSpc>
                <a:spcPct val="125000"/>
              </a:lnSpc>
            </a:pPr>
            <a:r>
              <a:rPr sz="4000" b="1">
                <a:solidFill>
                  <a:srgbClr val="F2F5F8"/>
                </a:solidFill>
                <a:latin typeface="Tahoma"/>
              </a:rPr>
              <a:t>۲۴٫۶٪</a:t>
            </a:r>
          </a:p>
        </p:txBody>
      </p:sp>
      <p:sp>
        <p:nvSpPr>
          <p:cNvPr id="17" name="TextBox 16"/>
          <p:cNvSpPr txBox="1"/>
          <p:nvPr/>
        </p:nvSpPr>
        <p:spPr>
          <a:xfrm>
            <a:off x="3395167" y="3246120"/>
            <a:ext cx="2258568" cy="457200"/>
          </a:xfrm>
          <a:prstGeom prst="rect">
            <a:avLst/>
          </a:prstGeom>
          <a:noFill/>
        </p:spPr>
        <p:txBody>
          <a:bodyPr wrap="square" anchor="t">
            <a:spAutoFit/>
          </a:bodyPr>
          <a:lstStyle/>
          <a:p>
            <a:pPr algn="r" rtl="1">
              <a:lnSpc>
                <a:spcPct val="125000"/>
              </a:lnSpc>
            </a:pPr>
            <a:r>
              <a:rPr sz="1300" b="1">
                <a:solidFill>
                  <a:srgbClr val="F2F5F8"/>
                </a:solidFill>
                <a:latin typeface="Tahoma"/>
              </a:rPr>
              <a:t>سهم ۱۰٪ پرمصرف‌ترین</a:t>
            </a:r>
          </a:p>
        </p:txBody>
      </p:sp>
      <p:sp>
        <p:nvSpPr>
          <p:cNvPr id="18" name="TextBox 17"/>
          <p:cNvSpPr txBox="1"/>
          <p:nvPr/>
        </p:nvSpPr>
        <p:spPr>
          <a:xfrm>
            <a:off x="3395167" y="3703320"/>
            <a:ext cx="2258568" cy="640080"/>
          </a:xfrm>
          <a:prstGeom prst="rect">
            <a:avLst/>
          </a:prstGeom>
          <a:noFill/>
        </p:spPr>
        <p:txBody>
          <a:bodyPr wrap="square" anchor="t">
            <a:spAutoFit/>
          </a:bodyPr>
          <a:lstStyle/>
          <a:p>
            <a:pPr algn="r" rtl="1">
              <a:lnSpc>
                <a:spcPct val="125000"/>
              </a:lnSpc>
            </a:pPr>
            <a:r>
              <a:rPr sz="1100" b="0">
                <a:solidFill>
                  <a:srgbClr val="6F7D8F"/>
                </a:solidFill>
                <a:latin typeface="Tahoma"/>
              </a:rPr>
              <a:t>نیمهٔ کم‌مصرف تنها ۲۴٫۵٪ را می‌برد</a:t>
            </a:r>
          </a:p>
        </p:txBody>
      </p:sp>
      <p:sp>
        <p:nvSpPr>
          <p:cNvPr id="19" name="Rounded Rectangle 18"/>
          <p:cNvSpPr/>
          <p:nvPr/>
        </p:nvSpPr>
        <p:spPr>
          <a:xfrm>
            <a:off x="341071" y="2148840"/>
            <a:ext cx="2670048" cy="228600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956255" y="2148840"/>
            <a:ext cx="54864" cy="2286000"/>
          </a:xfrm>
          <a:prstGeom prst="rect">
            <a:avLst/>
          </a:prstGeom>
          <a:solidFill>
            <a:srgbClr val="F5B0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3951" y="2377440"/>
            <a:ext cx="2258568" cy="822960"/>
          </a:xfrm>
          <a:prstGeom prst="rect">
            <a:avLst/>
          </a:prstGeom>
          <a:noFill/>
        </p:spPr>
        <p:txBody>
          <a:bodyPr wrap="square" anchor="t">
            <a:spAutoFit/>
          </a:bodyPr>
          <a:lstStyle/>
          <a:p>
            <a:pPr algn="r" rtl="1">
              <a:lnSpc>
                <a:spcPct val="125000"/>
              </a:lnSpc>
            </a:pPr>
            <a:r>
              <a:rPr sz="4000" b="1">
                <a:solidFill>
                  <a:srgbClr val="F2F5F8"/>
                </a:solidFill>
                <a:latin typeface="Tahoma"/>
              </a:rPr>
              <a:t>۵٫۲×</a:t>
            </a:r>
          </a:p>
        </p:txBody>
      </p:sp>
      <p:sp>
        <p:nvSpPr>
          <p:cNvPr id="22" name="TextBox 21"/>
          <p:cNvSpPr txBox="1"/>
          <p:nvPr/>
        </p:nvSpPr>
        <p:spPr>
          <a:xfrm>
            <a:off x="523951" y="3246120"/>
            <a:ext cx="2258568" cy="457200"/>
          </a:xfrm>
          <a:prstGeom prst="rect">
            <a:avLst/>
          </a:prstGeom>
          <a:noFill/>
        </p:spPr>
        <p:txBody>
          <a:bodyPr wrap="square" anchor="t">
            <a:spAutoFit/>
          </a:bodyPr>
          <a:lstStyle/>
          <a:p>
            <a:pPr algn="r" rtl="1">
              <a:lnSpc>
                <a:spcPct val="125000"/>
              </a:lnSpc>
            </a:pPr>
            <a:r>
              <a:rPr sz="1300" b="1">
                <a:solidFill>
                  <a:srgbClr val="F2F5F8"/>
                </a:solidFill>
                <a:latin typeface="Tahoma"/>
              </a:rPr>
              <a:t>شدت مصرف مشترک پلهٔ ۱۲</a:t>
            </a:r>
          </a:p>
        </p:txBody>
      </p:sp>
      <p:sp>
        <p:nvSpPr>
          <p:cNvPr id="23" name="TextBox 22"/>
          <p:cNvSpPr txBox="1"/>
          <p:nvPr/>
        </p:nvSpPr>
        <p:spPr>
          <a:xfrm>
            <a:off x="523951" y="3703320"/>
            <a:ext cx="2258568" cy="640080"/>
          </a:xfrm>
          <a:prstGeom prst="rect">
            <a:avLst/>
          </a:prstGeom>
          <a:noFill/>
        </p:spPr>
        <p:txBody>
          <a:bodyPr wrap="square" anchor="t">
            <a:spAutoFit/>
          </a:bodyPr>
          <a:lstStyle/>
          <a:p>
            <a:pPr algn="r" rtl="1">
              <a:lnSpc>
                <a:spcPct val="125000"/>
              </a:lnSpc>
            </a:pPr>
            <a:r>
              <a:rPr sz="1100" b="0">
                <a:solidFill>
                  <a:srgbClr val="6F7D8F"/>
                </a:solidFill>
                <a:latin typeface="Tahoma"/>
              </a:rPr>
              <a:t>معادل حدود ۱۱ مشترک پلهٔ ۱</a:t>
            </a:r>
          </a:p>
        </p:txBody>
      </p:sp>
      <p:sp>
        <p:nvSpPr>
          <p:cNvPr id="24" name="TextBox 23"/>
          <p:cNvSpPr txBox="1"/>
          <p:nvPr/>
        </p:nvSpPr>
        <p:spPr>
          <a:xfrm>
            <a:off x="566928" y="4754880"/>
            <a:ext cx="11064240" cy="1463040"/>
          </a:xfrm>
          <a:prstGeom prst="rect">
            <a:avLst/>
          </a:prstGeom>
          <a:noFill/>
        </p:spPr>
        <p:txBody>
          <a:bodyPr wrap="square" anchor="t">
            <a:spAutoFit/>
          </a:bodyPr>
          <a:lstStyle/>
          <a:p>
            <a:pPr algn="r" rtl="1">
              <a:lnSpc>
                <a:spcPct val="125000"/>
              </a:lnSpc>
            </a:pPr>
            <a:r>
              <a:rPr sz="1500" b="0">
                <a:solidFill>
                  <a:srgbClr val="A8B3C2"/>
                </a:solidFill>
                <a:latin typeface="Tahoma"/>
              </a:rPr>
              <a:t>دو توزیع موازی وجود دارد: یکی برای تعداد مشترکین و یکی برای حجم گاز. اگر بر هم منطبق بودند، مصرف کاملاً برابر بود. فاصلهٔ میان آن‌ها همان چیزی است که این گزارش می‌سنجد.</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نردبان پله‌ها</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مشترک در برابر مصرف، پله به پله</a:t>
            </a:r>
          </a:p>
        </p:txBody>
      </p:sp>
      <p:sp>
        <p:nvSpPr>
          <p:cNvPr id="4" name="Rounded Rectangle 3"/>
          <p:cNvSpPr/>
          <p:nvPr/>
        </p:nvSpPr>
        <p:spPr>
          <a:xfrm>
            <a:off x="566928" y="1417320"/>
            <a:ext cx="11064240" cy="42062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utterfly.png"/>
          <p:cNvPicPr>
            <a:picLocks noChangeAspect="1"/>
          </p:cNvPicPr>
          <p:nvPr/>
        </p:nvPicPr>
        <p:blipFill>
          <a:blip r:embed="rId2"/>
          <a:stretch>
            <a:fillRect/>
          </a:stretch>
        </p:blipFill>
        <p:spPr>
          <a:xfrm>
            <a:off x="1847088" y="1536192"/>
            <a:ext cx="8503920" cy="3968496"/>
          </a:xfrm>
          <a:prstGeom prst="rect">
            <a:avLst/>
          </a:prstGeom>
        </p:spPr>
      </p:pic>
      <p:sp>
        <p:nvSpPr>
          <p:cNvPr id="6" name="Rounded Rectangle 5"/>
          <p:cNvSpPr/>
          <p:nvPr/>
        </p:nvSpPr>
        <p:spPr>
          <a:xfrm>
            <a:off x="566928" y="5760720"/>
            <a:ext cx="11064240" cy="713232"/>
          </a:xfrm>
          <a:prstGeom prst="roundRect">
            <a:avLst>
              <a:gd name="adj" fmla="val 6000"/>
            </a:avLst>
          </a:prstGeom>
          <a:solidFill>
            <a:srgbClr val="1B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76304" y="5760720"/>
            <a:ext cx="54864" cy="713232"/>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888736"/>
            <a:ext cx="10607040" cy="548640"/>
          </a:xfrm>
          <a:prstGeom prst="rect">
            <a:avLst/>
          </a:prstGeom>
          <a:noFill/>
        </p:spPr>
        <p:txBody>
          <a:bodyPr wrap="square" anchor="t">
            <a:spAutoFit/>
          </a:bodyPr>
          <a:lstStyle/>
          <a:p>
            <a:pPr algn="r" rtl="1">
              <a:lnSpc>
                <a:spcPct val="125000"/>
              </a:lnSpc>
            </a:pPr>
            <a:r>
              <a:rPr sz="1300" b="0">
                <a:solidFill>
                  <a:srgbClr val="A8B3C2"/>
                </a:solidFill>
                <a:latin typeface="Tahoma"/>
              </a:rPr>
              <a:t>پلهٔ ۱ با ۵۱٫۹٪ از مشترکین، ۲۵٫۴٪ از گاز را می‌برد؛ پلهٔ ۱۲ با تنها ۰٫۵٪ از مشترکین، ۲٫۶٪ را.</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ضریب شدت</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هر پله چند برابر مشترک متوسط گاز می‌سوزاند</a:t>
            </a:r>
          </a:p>
        </p:txBody>
      </p:sp>
      <p:sp>
        <p:nvSpPr>
          <p:cNvPr id="4" name="Rounded Rectangle 3"/>
          <p:cNvSpPr/>
          <p:nvPr/>
        </p:nvSpPr>
        <p:spPr>
          <a:xfrm>
            <a:off x="566928" y="1417320"/>
            <a:ext cx="11064240" cy="42062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tensity.png"/>
          <p:cNvPicPr>
            <a:picLocks noChangeAspect="1"/>
          </p:cNvPicPr>
          <p:nvPr/>
        </p:nvPicPr>
        <p:blipFill>
          <a:blip r:embed="rId2"/>
          <a:stretch>
            <a:fillRect/>
          </a:stretch>
        </p:blipFill>
        <p:spPr>
          <a:xfrm>
            <a:off x="1847088" y="1536192"/>
            <a:ext cx="8503920" cy="3968496"/>
          </a:xfrm>
          <a:prstGeom prst="rect">
            <a:avLst/>
          </a:prstGeom>
        </p:spPr>
      </p:pic>
      <p:sp>
        <p:nvSpPr>
          <p:cNvPr id="6" name="Rounded Rectangle 5"/>
          <p:cNvSpPr/>
          <p:nvPr/>
        </p:nvSpPr>
        <p:spPr>
          <a:xfrm>
            <a:off x="566928" y="5760720"/>
            <a:ext cx="11064240" cy="713232"/>
          </a:xfrm>
          <a:prstGeom prst="roundRect">
            <a:avLst>
              <a:gd name="adj" fmla="val 6000"/>
            </a:avLst>
          </a:prstGeom>
          <a:solidFill>
            <a:srgbClr val="1B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76304" y="5760720"/>
            <a:ext cx="54864" cy="713232"/>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888736"/>
            <a:ext cx="10607040" cy="548640"/>
          </a:xfrm>
          <a:prstGeom prst="rect">
            <a:avLst/>
          </a:prstGeom>
          <a:noFill/>
        </p:spPr>
        <p:txBody>
          <a:bodyPr wrap="square" anchor="t">
            <a:spAutoFit/>
          </a:bodyPr>
          <a:lstStyle/>
          <a:p>
            <a:pPr algn="r" rtl="1">
              <a:lnSpc>
                <a:spcPct val="125000"/>
              </a:lnSpc>
            </a:pPr>
            <a:r>
              <a:rPr sz="1300" b="0">
                <a:solidFill>
                  <a:srgbClr val="A8B3C2"/>
                </a:solidFill>
                <a:latin typeface="Tahoma"/>
              </a:rPr>
              <a:t>شدت مصرف از ۰٫۵× در پلهٔ ۱ تا ۵٫۲× در پلهٔ ۱۲ بالا می‌رود.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جریان مصرف</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از صد مشترک تا صد واحد گاز</a:t>
            </a:r>
          </a:p>
        </p:txBody>
      </p:sp>
      <p:sp>
        <p:nvSpPr>
          <p:cNvPr id="4" name="Rounded Rectangle 3"/>
          <p:cNvSpPr/>
          <p:nvPr/>
        </p:nvSpPr>
        <p:spPr>
          <a:xfrm>
            <a:off x="566928" y="1417320"/>
            <a:ext cx="11064240" cy="42062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ankey.png"/>
          <p:cNvPicPr>
            <a:picLocks noChangeAspect="1"/>
          </p:cNvPicPr>
          <p:nvPr/>
        </p:nvPicPr>
        <p:blipFill>
          <a:blip r:embed="rId2"/>
          <a:stretch>
            <a:fillRect/>
          </a:stretch>
        </p:blipFill>
        <p:spPr>
          <a:xfrm>
            <a:off x="1847088" y="1536192"/>
            <a:ext cx="8503920" cy="3968496"/>
          </a:xfrm>
          <a:prstGeom prst="rect">
            <a:avLst/>
          </a:prstGeom>
        </p:spPr>
      </p:pic>
      <p:sp>
        <p:nvSpPr>
          <p:cNvPr id="6" name="Rounded Rectangle 5"/>
          <p:cNvSpPr/>
          <p:nvPr/>
        </p:nvSpPr>
        <p:spPr>
          <a:xfrm>
            <a:off x="566928" y="5760720"/>
            <a:ext cx="11064240" cy="713232"/>
          </a:xfrm>
          <a:prstGeom prst="roundRect">
            <a:avLst>
              <a:gd name="adj" fmla="val 6000"/>
            </a:avLst>
          </a:prstGeom>
          <a:solidFill>
            <a:srgbClr val="1B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76304" y="5760720"/>
            <a:ext cx="54864" cy="713232"/>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888736"/>
            <a:ext cx="10607040" cy="548640"/>
          </a:xfrm>
          <a:prstGeom prst="rect">
            <a:avLst/>
          </a:prstGeom>
          <a:noFill/>
        </p:spPr>
        <p:txBody>
          <a:bodyPr wrap="square" anchor="t">
            <a:spAutoFit/>
          </a:bodyPr>
          <a:lstStyle/>
          <a:p>
            <a:pPr algn="r" rtl="1">
              <a:lnSpc>
                <a:spcPct val="125000"/>
              </a:lnSpc>
            </a:pPr>
            <a:r>
              <a:rPr sz="1300" b="0">
                <a:solidFill>
                  <a:srgbClr val="A8B3C2"/>
                </a:solidFill>
                <a:latin typeface="Tahoma"/>
              </a:rPr>
              <a:t>گروه بسیار پرمصرف با ۰٫۷٪ مشترک، ۳٫۳٪ گاز را می‌برد.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نابرابری مصرف</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منحنی لورنز و ضریب جینی</a:t>
            </a:r>
          </a:p>
        </p:txBody>
      </p:sp>
      <p:sp>
        <p:nvSpPr>
          <p:cNvPr id="4" name="Rounded Rectangle 3"/>
          <p:cNvSpPr/>
          <p:nvPr/>
        </p:nvSpPr>
        <p:spPr>
          <a:xfrm>
            <a:off x="566928" y="1417320"/>
            <a:ext cx="11064240" cy="42062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renz.png"/>
          <p:cNvPicPr>
            <a:picLocks noChangeAspect="1"/>
          </p:cNvPicPr>
          <p:nvPr/>
        </p:nvPicPr>
        <p:blipFill>
          <a:blip r:embed="rId2"/>
          <a:stretch>
            <a:fillRect/>
          </a:stretch>
        </p:blipFill>
        <p:spPr>
          <a:xfrm>
            <a:off x="2697480" y="1536192"/>
            <a:ext cx="6803136" cy="3968496"/>
          </a:xfrm>
          <a:prstGeom prst="rect">
            <a:avLst/>
          </a:prstGeom>
        </p:spPr>
      </p:pic>
      <p:sp>
        <p:nvSpPr>
          <p:cNvPr id="6" name="Rounded Rectangle 5"/>
          <p:cNvSpPr/>
          <p:nvPr/>
        </p:nvSpPr>
        <p:spPr>
          <a:xfrm>
            <a:off x="566928" y="5760720"/>
            <a:ext cx="11064240" cy="713232"/>
          </a:xfrm>
          <a:prstGeom prst="roundRect">
            <a:avLst>
              <a:gd name="adj" fmla="val 6000"/>
            </a:avLst>
          </a:prstGeom>
          <a:solidFill>
            <a:srgbClr val="1B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76304" y="5760720"/>
            <a:ext cx="54864" cy="713232"/>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888736"/>
            <a:ext cx="10607040" cy="548640"/>
          </a:xfrm>
          <a:prstGeom prst="rect">
            <a:avLst/>
          </a:prstGeom>
          <a:noFill/>
        </p:spPr>
        <p:txBody>
          <a:bodyPr wrap="square" anchor="t">
            <a:spAutoFit/>
          </a:bodyPr>
          <a:lstStyle/>
          <a:p>
            <a:pPr algn="r" rtl="1">
              <a:lnSpc>
                <a:spcPct val="125000"/>
              </a:lnSpc>
            </a:pPr>
            <a:r>
              <a:rPr sz="1300" b="0">
                <a:solidFill>
                  <a:srgbClr val="A8B3C2"/>
                </a:solidFill>
                <a:latin typeface="Tahoma"/>
              </a:rPr>
              <a:t>ضریب جینی کشوری ۰٫۳۳۳ است — کران پایین نابرابری واقعی، چون نابرابری درون هر پله در داده دیده نمی‌شود.</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جغرافیای مصرف</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سهم مصرف مازاد بر الگو، به تفکیک استان</a:t>
            </a:r>
          </a:p>
        </p:txBody>
      </p:sp>
      <p:sp>
        <p:nvSpPr>
          <p:cNvPr id="4" name="Rounded Rectangle 3"/>
          <p:cNvSpPr/>
          <p:nvPr/>
        </p:nvSpPr>
        <p:spPr>
          <a:xfrm>
            <a:off x="566928" y="1417320"/>
            <a:ext cx="11064240" cy="42062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ap.png"/>
          <p:cNvPicPr>
            <a:picLocks noChangeAspect="1"/>
          </p:cNvPicPr>
          <p:nvPr/>
        </p:nvPicPr>
        <p:blipFill>
          <a:blip r:embed="rId2"/>
          <a:stretch>
            <a:fillRect/>
          </a:stretch>
        </p:blipFill>
        <p:spPr>
          <a:xfrm>
            <a:off x="2443854" y="1536192"/>
            <a:ext cx="7310387" cy="3968496"/>
          </a:xfrm>
          <a:prstGeom prst="rect">
            <a:avLst/>
          </a:prstGeom>
        </p:spPr>
      </p:pic>
      <p:sp>
        <p:nvSpPr>
          <p:cNvPr id="6" name="Rounded Rectangle 5"/>
          <p:cNvSpPr/>
          <p:nvPr/>
        </p:nvSpPr>
        <p:spPr>
          <a:xfrm>
            <a:off x="566928" y="5760720"/>
            <a:ext cx="11064240" cy="713232"/>
          </a:xfrm>
          <a:prstGeom prst="roundRect">
            <a:avLst>
              <a:gd name="adj" fmla="val 6000"/>
            </a:avLst>
          </a:prstGeom>
          <a:solidFill>
            <a:srgbClr val="1B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76304" y="5760720"/>
            <a:ext cx="54864" cy="713232"/>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888736"/>
            <a:ext cx="10607040" cy="548640"/>
          </a:xfrm>
          <a:prstGeom prst="rect">
            <a:avLst/>
          </a:prstGeom>
          <a:noFill/>
        </p:spPr>
        <p:txBody>
          <a:bodyPr wrap="square" anchor="t">
            <a:spAutoFit/>
          </a:bodyPr>
          <a:lstStyle/>
          <a:p>
            <a:pPr algn="r" rtl="1">
              <a:lnSpc>
                <a:spcPct val="125000"/>
              </a:lnSpc>
            </a:pPr>
            <a:r>
              <a:rPr sz="1300" b="0">
                <a:solidFill>
                  <a:srgbClr val="A8B3C2"/>
                </a:solidFill>
                <a:latin typeface="Tahoma"/>
              </a:rPr>
              <a:t>بیشترین در مازندران (۵۲٫۱٪) و کمترین در هرمزگان (۱۰٫۲٪).</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ماتریس استان × پله</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الگوی توزیع مصرف در هر استان</a:t>
            </a:r>
          </a:p>
        </p:txBody>
      </p:sp>
      <p:sp>
        <p:nvSpPr>
          <p:cNvPr id="4" name="Rounded Rectangle 3"/>
          <p:cNvSpPr/>
          <p:nvPr/>
        </p:nvSpPr>
        <p:spPr>
          <a:xfrm>
            <a:off x="566928" y="1417320"/>
            <a:ext cx="11064240" cy="42062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eat.png"/>
          <p:cNvPicPr>
            <a:picLocks noChangeAspect="1"/>
          </p:cNvPicPr>
          <p:nvPr/>
        </p:nvPicPr>
        <p:blipFill>
          <a:blip r:embed="rId2"/>
          <a:stretch>
            <a:fillRect/>
          </a:stretch>
        </p:blipFill>
        <p:spPr>
          <a:xfrm>
            <a:off x="2283186" y="1536192"/>
            <a:ext cx="7631723" cy="3968496"/>
          </a:xfrm>
          <a:prstGeom prst="rect">
            <a:avLst/>
          </a:prstGeom>
        </p:spPr>
      </p:pic>
      <p:sp>
        <p:nvSpPr>
          <p:cNvPr id="6" name="Rounded Rectangle 5"/>
          <p:cNvSpPr/>
          <p:nvPr/>
        </p:nvSpPr>
        <p:spPr>
          <a:xfrm>
            <a:off x="566928" y="5760720"/>
            <a:ext cx="11064240" cy="713232"/>
          </a:xfrm>
          <a:prstGeom prst="roundRect">
            <a:avLst>
              <a:gd name="adj" fmla="val 6000"/>
            </a:avLst>
          </a:prstGeom>
          <a:solidFill>
            <a:srgbClr val="1B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76304" y="5760720"/>
            <a:ext cx="54864" cy="713232"/>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888736"/>
            <a:ext cx="10607040" cy="548640"/>
          </a:xfrm>
          <a:prstGeom prst="rect">
            <a:avLst/>
          </a:prstGeom>
          <a:noFill/>
        </p:spPr>
        <p:txBody>
          <a:bodyPr wrap="square" anchor="t">
            <a:spAutoFit/>
          </a:bodyPr>
          <a:lstStyle/>
          <a:p>
            <a:pPr algn="r" rtl="1">
              <a:lnSpc>
                <a:spcPct val="125000"/>
              </a:lnSpc>
            </a:pPr>
            <a:r>
              <a:rPr sz="1300" b="0">
                <a:solidFill>
                  <a:srgbClr val="A8B3C2"/>
                </a:solidFill>
                <a:latin typeface="Tahoma"/>
              </a:rPr>
              <a:t>ردیف‌هایی که روشنی‌شان به چپ کشیده شده، دنبالهٔ پرمصرف سنگینی دارند.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اقلیم در برابر رفتار</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دما چقدر از تفاوت استان‌ها را توضیح می‌دهد؟</a:t>
            </a:r>
          </a:p>
        </p:txBody>
      </p:sp>
      <p:sp>
        <p:nvSpPr>
          <p:cNvPr id="4" name="Rounded Rectangle 3"/>
          <p:cNvSpPr/>
          <p:nvPr/>
        </p:nvSpPr>
        <p:spPr>
          <a:xfrm>
            <a:off x="566928" y="1417320"/>
            <a:ext cx="11064240" cy="42062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limate.png"/>
          <p:cNvPicPr>
            <a:picLocks noChangeAspect="1"/>
          </p:cNvPicPr>
          <p:nvPr/>
        </p:nvPicPr>
        <p:blipFill>
          <a:blip r:embed="rId2"/>
          <a:stretch>
            <a:fillRect/>
          </a:stretch>
        </p:blipFill>
        <p:spPr>
          <a:xfrm>
            <a:off x="1847088" y="1536192"/>
            <a:ext cx="8503920" cy="3968496"/>
          </a:xfrm>
          <a:prstGeom prst="rect">
            <a:avLst/>
          </a:prstGeom>
        </p:spPr>
      </p:pic>
      <p:sp>
        <p:nvSpPr>
          <p:cNvPr id="6" name="Rounded Rectangle 5"/>
          <p:cNvSpPr/>
          <p:nvPr/>
        </p:nvSpPr>
        <p:spPr>
          <a:xfrm>
            <a:off x="566928" y="5760720"/>
            <a:ext cx="11064240" cy="713232"/>
          </a:xfrm>
          <a:prstGeom prst="roundRect">
            <a:avLst>
              <a:gd name="adj" fmla="val 6000"/>
            </a:avLst>
          </a:prstGeom>
          <a:solidFill>
            <a:srgbClr val="1B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76304" y="5760720"/>
            <a:ext cx="54864" cy="713232"/>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888736"/>
            <a:ext cx="10607040" cy="548640"/>
          </a:xfrm>
          <a:prstGeom prst="rect">
            <a:avLst/>
          </a:prstGeom>
          <a:noFill/>
        </p:spPr>
        <p:txBody>
          <a:bodyPr wrap="square" anchor="t">
            <a:spAutoFit/>
          </a:bodyPr>
          <a:lstStyle/>
          <a:p>
            <a:pPr algn="r" rtl="1">
              <a:lnSpc>
                <a:spcPct val="125000"/>
              </a:lnSpc>
            </a:pPr>
            <a:r>
              <a:rPr sz="1300" b="0">
                <a:solidFill>
                  <a:srgbClr val="A8B3C2"/>
                </a:solidFill>
                <a:latin typeface="Tahoma"/>
              </a:rPr>
              <a:t>دما تنها ۴۲٪ از پراکندگی را توضیح می‌دهد؛ بقیه‌اش رفتار، عایق‌بندی و رطوبت است.</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دو فصل</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فاصلهٔ پرمصرف‌ترین گروه تا مشترک متوسط</a:t>
            </a:r>
          </a:p>
        </p:txBody>
      </p:sp>
      <p:sp>
        <p:nvSpPr>
          <p:cNvPr id="4" name="Rounded Rectangle 3"/>
          <p:cNvSpPr/>
          <p:nvPr/>
        </p:nvSpPr>
        <p:spPr>
          <a:xfrm>
            <a:off x="566928" y="1417320"/>
            <a:ext cx="11064240" cy="42062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son.png"/>
          <p:cNvPicPr>
            <a:picLocks noChangeAspect="1"/>
          </p:cNvPicPr>
          <p:nvPr/>
        </p:nvPicPr>
        <p:blipFill>
          <a:blip r:embed="rId2"/>
          <a:stretch>
            <a:fillRect/>
          </a:stretch>
        </p:blipFill>
        <p:spPr>
          <a:xfrm>
            <a:off x="2537577" y="1536192"/>
            <a:ext cx="7122941" cy="3968496"/>
          </a:xfrm>
          <a:prstGeom prst="rect">
            <a:avLst/>
          </a:prstGeom>
        </p:spPr>
      </p:pic>
      <p:sp>
        <p:nvSpPr>
          <p:cNvPr id="6" name="Rounded Rectangle 5"/>
          <p:cNvSpPr/>
          <p:nvPr/>
        </p:nvSpPr>
        <p:spPr>
          <a:xfrm>
            <a:off x="566928" y="5760720"/>
            <a:ext cx="11064240" cy="713232"/>
          </a:xfrm>
          <a:prstGeom prst="roundRect">
            <a:avLst>
              <a:gd name="adj" fmla="val 6000"/>
            </a:avLst>
          </a:prstGeom>
          <a:solidFill>
            <a:srgbClr val="1B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576304" y="5760720"/>
            <a:ext cx="54864" cy="713232"/>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888736"/>
            <a:ext cx="10607040" cy="548640"/>
          </a:xfrm>
          <a:prstGeom prst="rect">
            <a:avLst/>
          </a:prstGeom>
          <a:noFill/>
        </p:spPr>
        <p:txBody>
          <a:bodyPr wrap="square" anchor="t">
            <a:spAutoFit/>
          </a:bodyPr>
          <a:lstStyle/>
          <a:p>
            <a:pPr algn="r" rtl="1">
              <a:lnSpc>
                <a:spcPct val="125000"/>
              </a:lnSpc>
            </a:pPr>
            <a:r>
              <a:rPr sz="1300" b="0">
                <a:solidFill>
                  <a:srgbClr val="A8B3C2"/>
                </a:solidFill>
                <a:latin typeface="Tahoma"/>
              </a:rPr>
              <a:t>از ۱٫۷× در دورهٔ گرم به ۴٫۷× در دورهٔ سرد.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رتبه‌بندی</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پرمصرف‌ترین و کم‌مصرف‌ترین استان‌ها نسبت به الگو</a:t>
            </a:r>
          </a:p>
        </p:txBody>
      </p:sp>
      <p:sp>
        <p:nvSpPr>
          <p:cNvPr id="4" name="TextBox 3"/>
          <p:cNvSpPr txBox="1"/>
          <p:nvPr/>
        </p:nvSpPr>
        <p:spPr>
          <a:xfrm>
            <a:off x="6138367" y="1783080"/>
            <a:ext cx="5486400" cy="365760"/>
          </a:xfrm>
          <a:prstGeom prst="rect">
            <a:avLst/>
          </a:prstGeom>
          <a:noFill/>
        </p:spPr>
        <p:txBody>
          <a:bodyPr wrap="square" anchor="t">
            <a:spAutoFit/>
          </a:bodyPr>
          <a:lstStyle/>
          <a:p>
            <a:pPr algn="r" rtl="1">
              <a:lnSpc>
                <a:spcPct val="125000"/>
              </a:lnSpc>
            </a:pPr>
            <a:r>
              <a:rPr sz="1500" b="1">
                <a:solidFill>
                  <a:srgbClr val="F2F5F8"/>
                </a:solidFill>
                <a:latin typeface="Tahoma"/>
              </a:rPr>
              <a:t>بیشترین مصرف مازاد بر الگو</a:t>
            </a:r>
          </a:p>
        </p:txBody>
      </p:sp>
      <p:sp>
        <p:nvSpPr>
          <p:cNvPr id="5" name="Rounded Rectangle 4"/>
          <p:cNvSpPr/>
          <p:nvPr/>
        </p:nvSpPr>
        <p:spPr>
          <a:xfrm>
            <a:off x="6138367" y="2286000"/>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1567" y="2331720"/>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مازندران</a:t>
            </a:r>
          </a:p>
        </p:txBody>
      </p:sp>
      <p:sp>
        <p:nvSpPr>
          <p:cNvPr id="7" name="Rectangle 6"/>
          <p:cNvSpPr/>
          <p:nvPr/>
        </p:nvSpPr>
        <p:spPr>
          <a:xfrm>
            <a:off x="6504127" y="2432304"/>
            <a:ext cx="2194560" cy="128016"/>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75527" y="2331720"/>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۵۲٫۱٪</a:t>
            </a:r>
          </a:p>
        </p:txBody>
      </p:sp>
      <p:sp>
        <p:nvSpPr>
          <p:cNvPr id="9" name="Rounded Rectangle 8"/>
          <p:cNvSpPr/>
          <p:nvPr/>
        </p:nvSpPr>
        <p:spPr>
          <a:xfrm>
            <a:off x="6138367" y="2798064"/>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81567" y="2843784"/>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کهگیلویه و بویراحمد</a:t>
            </a:r>
          </a:p>
        </p:txBody>
      </p:sp>
      <p:sp>
        <p:nvSpPr>
          <p:cNvPr id="11" name="Rectangle 10"/>
          <p:cNvSpPr/>
          <p:nvPr/>
        </p:nvSpPr>
        <p:spPr>
          <a:xfrm>
            <a:off x="6653660" y="2944368"/>
            <a:ext cx="2045026" cy="128016"/>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75527" y="2843784"/>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۴۸٫۵٪</a:t>
            </a:r>
          </a:p>
        </p:txBody>
      </p:sp>
      <p:sp>
        <p:nvSpPr>
          <p:cNvPr id="13" name="Rounded Rectangle 12"/>
          <p:cNvSpPr/>
          <p:nvPr/>
        </p:nvSpPr>
        <p:spPr>
          <a:xfrm>
            <a:off x="6138367" y="3310128"/>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81567" y="3355848"/>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گیلان</a:t>
            </a:r>
          </a:p>
        </p:txBody>
      </p:sp>
      <p:sp>
        <p:nvSpPr>
          <p:cNvPr id="15" name="Rectangle 14"/>
          <p:cNvSpPr/>
          <p:nvPr/>
        </p:nvSpPr>
        <p:spPr>
          <a:xfrm>
            <a:off x="6773287" y="3456432"/>
            <a:ext cx="1925399" cy="128016"/>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75527" y="3355848"/>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۴۵٫۷٪</a:t>
            </a:r>
          </a:p>
        </p:txBody>
      </p:sp>
      <p:sp>
        <p:nvSpPr>
          <p:cNvPr id="17" name="Rounded Rectangle 16"/>
          <p:cNvSpPr/>
          <p:nvPr/>
        </p:nvSpPr>
        <p:spPr>
          <a:xfrm>
            <a:off x="6138367" y="3822192"/>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81567" y="3867912"/>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اردبیل</a:t>
            </a:r>
          </a:p>
        </p:txBody>
      </p:sp>
      <p:sp>
        <p:nvSpPr>
          <p:cNvPr id="19" name="Rectangle 18"/>
          <p:cNvSpPr/>
          <p:nvPr/>
        </p:nvSpPr>
        <p:spPr>
          <a:xfrm>
            <a:off x="6864691" y="3968496"/>
            <a:ext cx="1833995" cy="128016"/>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5527" y="3867912"/>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۴۳٫۵٪</a:t>
            </a:r>
          </a:p>
        </p:txBody>
      </p:sp>
      <p:sp>
        <p:nvSpPr>
          <p:cNvPr id="21" name="Rounded Rectangle 20"/>
          <p:cNvSpPr/>
          <p:nvPr/>
        </p:nvSpPr>
        <p:spPr>
          <a:xfrm>
            <a:off x="6138367" y="4334256"/>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81567" y="4379976"/>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آذربایجان غربی</a:t>
            </a:r>
          </a:p>
        </p:txBody>
      </p:sp>
      <p:sp>
        <p:nvSpPr>
          <p:cNvPr id="23" name="Rectangle 22"/>
          <p:cNvSpPr/>
          <p:nvPr/>
        </p:nvSpPr>
        <p:spPr>
          <a:xfrm>
            <a:off x="6868904" y="4480560"/>
            <a:ext cx="1829782" cy="128016"/>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75527" y="4379976"/>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۴۳٫۴٪</a:t>
            </a:r>
          </a:p>
        </p:txBody>
      </p:sp>
      <p:sp>
        <p:nvSpPr>
          <p:cNvPr id="25" name="Rounded Rectangle 24"/>
          <p:cNvSpPr/>
          <p:nvPr/>
        </p:nvSpPr>
        <p:spPr>
          <a:xfrm>
            <a:off x="6138367" y="4846320"/>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81567" y="4892040"/>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کردستان</a:t>
            </a:r>
          </a:p>
        </p:txBody>
      </p:sp>
      <p:sp>
        <p:nvSpPr>
          <p:cNvPr id="27" name="Rectangle 26"/>
          <p:cNvSpPr/>
          <p:nvPr/>
        </p:nvSpPr>
        <p:spPr>
          <a:xfrm>
            <a:off x="6995270" y="4992624"/>
            <a:ext cx="1703416" cy="128016"/>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75527" y="4892040"/>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۴۰٫۴٪</a:t>
            </a:r>
          </a:p>
        </p:txBody>
      </p:sp>
      <p:sp>
        <p:nvSpPr>
          <p:cNvPr id="29" name="Rounded Rectangle 28"/>
          <p:cNvSpPr/>
          <p:nvPr/>
        </p:nvSpPr>
        <p:spPr>
          <a:xfrm>
            <a:off x="6138367" y="5358384"/>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81567" y="5404104"/>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همدان</a:t>
            </a:r>
          </a:p>
        </p:txBody>
      </p:sp>
      <p:sp>
        <p:nvSpPr>
          <p:cNvPr id="31" name="Rectangle 30"/>
          <p:cNvSpPr/>
          <p:nvPr/>
        </p:nvSpPr>
        <p:spPr>
          <a:xfrm>
            <a:off x="7045816" y="5504688"/>
            <a:ext cx="1652870" cy="128016"/>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75527" y="5404104"/>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۳۹٫۲٪</a:t>
            </a:r>
          </a:p>
        </p:txBody>
      </p:sp>
      <p:sp>
        <p:nvSpPr>
          <p:cNvPr id="33" name="Rounded Rectangle 32"/>
          <p:cNvSpPr/>
          <p:nvPr/>
        </p:nvSpPr>
        <p:spPr>
          <a:xfrm>
            <a:off x="6138367" y="5870448"/>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81567" y="5916168"/>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چهارمحال و بختیاری</a:t>
            </a:r>
          </a:p>
        </p:txBody>
      </p:sp>
      <p:sp>
        <p:nvSpPr>
          <p:cNvPr id="35" name="Rectangle 34"/>
          <p:cNvSpPr/>
          <p:nvPr/>
        </p:nvSpPr>
        <p:spPr>
          <a:xfrm>
            <a:off x="7089623" y="6016752"/>
            <a:ext cx="1609063" cy="128016"/>
          </a:xfrm>
          <a:prstGeom prst="rect">
            <a:avLst/>
          </a:prstGeom>
          <a:solidFill>
            <a:srgbClr val="F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75527" y="5916168"/>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۳۸٫۲٪</a:t>
            </a:r>
          </a:p>
        </p:txBody>
      </p:sp>
      <p:sp>
        <p:nvSpPr>
          <p:cNvPr id="37" name="TextBox 36"/>
          <p:cNvSpPr txBox="1"/>
          <p:nvPr/>
        </p:nvSpPr>
        <p:spPr>
          <a:xfrm>
            <a:off x="377647" y="1783080"/>
            <a:ext cx="5486400" cy="365760"/>
          </a:xfrm>
          <a:prstGeom prst="rect">
            <a:avLst/>
          </a:prstGeom>
          <a:noFill/>
        </p:spPr>
        <p:txBody>
          <a:bodyPr wrap="square" anchor="t">
            <a:spAutoFit/>
          </a:bodyPr>
          <a:lstStyle/>
          <a:p>
            <a:pPr algn="r" rtl="1">
              <a:lnSpc>
                <a:spcPct val="125000"/>
              </a:lnSpc>
            </a:pPr>
            <a:r>
              <a:rPr sz="1500" b="1">
                <a:solidFill>
                  <a:srgbClr val="F2F5F8"/>
                </a:solidFill>
                <a:latin typeface="Tahoma"/>
              </a:rPr>
              <a:t>کمترین مصرف مازاد بر الگو</a:t>
            </a:r>
          </a:p>
        </p:txBody>
      </p:sp>
      <p:sp>
        <p:nvSpPr>
          <p:cNvPr id="38" name="Rounded Rectangle 37"/>
          <p:cNvSpPr/>
          <p:nvPr/>
        </p:nvSpPr>
        <p:spPr>
          <a:xfrm>
            <a:off x="377647" y="2286000"/>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120847" y="2331720"/>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هرمزگان</a:t>
            </a:r>
          </a:p>
        </p:txBody>
      </p:sp>
      <p:sp>
        <p:nvSpPr>
          <p:cNvPr id="40" name="Rectangle 39"/>
          <p:cNvSpPr/>
          <p:nvPr/>
        </p:nvSpPr>
        <p:spPr>
          <a:xfrm>
            <a:off x="2509164" y="2432304"/>
            <a:ext cx="428802" cy="128016"/>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4807" y="2331720"/>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۱۰٫۲٪</a:t>
            </a:r>
          </a:p>
        </p:txBody>
      </p:sp>
      <p:sp>
        <p:nvSpPr>
          <p:cNvPr id="42" name="Rounded Rectangle 41"/>
          <p:cNvSpPr/>
          <p:nvPr/>
        </p:nvSpPr>
        <p:spPr>
          <a:xfrm>
            <a:off x="377647" y="2798064"/>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120847" y="2843784"/>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بوشهر</a:t>
            </a:r>
          </a:p>
        </p:txBody>
      </p:sp>
      <p:sp>
        <p:nvSpPr>
          <p:cNvPr id="44" name="Rectangle 43"/>
          <p:cNvSpPr/>
          <p:nvPr/>
        </p:nvSpPr>
        <p:spPr>
          <a:xfrm>
            <a:off x="2373952" y="2944368"/>
            <a:ext cx="564014" cy="128016"/>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4807" y="2843784"/>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۱۳٫۴٪</a:t>
            </a:r>
          </a:p>
        </p:txBody>
      </p:sp>
      <p:sp>
        <p:nvSpPr>
          <p:cNvPr id="46" name="Rounded Rectangle 45"/>
          <p:cNvSpPr/>
          <p:nvPr/>
        </p:nvSpPr>
        <p:spPr>
          <a:xfrm>
            <a:off x="377647" y="3310128"/>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120847" y="3355848"/>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قم</a:t>
            </a:r>
          </a:p>
        </p:txBody>
      </p:sp>
      <p:sp>
        <p:nvSpPr>
          <p:cNvPr id="48" name="Rectangle 47"/>
          <p:cNvSpPr/>
          <p:nvPr/>
        </p:nvSpPr>
        <p:spPr>
          <a:xfrm>
            <a:off x="2233685" y="3456432"/>
            <a:ext cx="704281" cy="128016"/>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14807" y="3355848"/>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۱۶٫۷٪</a:t>
            </a:r>
          </a:p>
        </p:txBody>
      </p:sp>
      <p:sp>
        <p:nvSpPr>
          <p:cNvPr id="50" name="Rounded Rectangle 49"/>
          <p:cNvSpPr/>
          <p:nvPr/>
        </p:nvSpPr>
        <p:spPr>
          <a:xfrm>
            <a:off x="377647" y="3822192"/>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120847" y="3867912"/>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خراسان جنوبی</a:t>
            </a:r>
          </a:p>
        </p:txBody>
      </p:sp>
      <p:sp>
        <p:nvSpPr>
          <p:cNvPr id="52" name="Rectangle 51"/>
          <p:cNvSpPr/>
          <p:nvPr/>
        </p:nvSpPr>
        <p:spPr>
          <a:xfrm>
            <a:off x="2200830" y="3968496"/>
            <a:ext cx="737136" cy="128016"/>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14807" y="3867912"/>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۱۷٫۵٪</a:t>
            </a:r>
          </a:p>
        </p:txBody>
      </p:sp>
      <p:sp>
        <p:nvSpPr>
          <p:cNvPr id="54" name="Rounded Rectangle 53"/>
          <p:cNvSpPr/>
          <p:nvPr/>
        </p:nvSpPr>
        <p:spPr>
          <a:xfrm>
            <a:off x="377647" y="4334256"/>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120847" y="4379976"/>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خراسان رضوی</a:t>
            </a:r>
          </a:p>
        </p:txBody>
      </p:sp>
      <p:sp>
        <p:nvSpPr>
          <p:cNvPr id="56" name="Rectangle 55"/>
          <p:cNvSpPr/>
          <p:nvPr/>
        </p:nvSpPr>
        <p:spPr>
          <a:xfrm>
            <a:off x="2122483" y="4480560"/>
            <a:ext cx="815483" cy="128016"/>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14807" y="4379976"/>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۱۹٫۴٪</a:t>
            </a:r>
          </a:p>
        </p:txBody>
      </p:sp>
      <p:sp>
        <p:nvSpPr>
          <p:cNvPr id="58" name="Rounded Rectangle 57"/>
          <p:cNvSpPr/>
          <p:nvPr/>
        </p:nvSpPr>
        <p:spPr>
          <a:xfrm>
            <a:off x="377647" y="4846320"/>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120847" y="4892040"/>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سیستان و بلوچستان</a:t>
            </a:r>
          </a:p>
        </p:txBody>
      </p:sp>
      <p:sp>
        <p:nvSpPr>
          <p:cNvPr id="60" name="Rectangle 59"/>
          <p:cNvSpPr/>
          <p:nvPr/>
        </p:nvSpPr>
        <p:spPr>
          <a:xfrm>
            <a:off x="2079519" y="4992624"/>
            <a:ext cx="858447" cy="128016"/>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14807" y="4892040"/>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۲۰٫۴٪</a:t>
            </a:r>
          </a:p>
        </p:txBody>
      </p:sp>
      <p:sp>
        <p:nvSpPr>
          <p:cNvPr id="62" name="Rounded Rectangle 61"/>
          <p:cNvSpPr/>
          <p:nvPr/>
        </p:nvSpPr>
        <p:spPr>
          <a:xfrm>
            <a:off x="377647" y="5358384"/>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120847" y="5404104"/>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خوزستان</a:t>
            </a:r>
          </a:p>
        </p:txBody>
      </p:sp>
      <p:sp>
        <p:nvSpPr>
          <p:cNvPr id="64" name="Rectangle 63"/>
          <p:cNvSpPr/>
          <p:nvPr/>
        </p:nvSpPr>
        <p:spPr>
          <a:xfrm>
            <a:off x="1973371" y="5504688"/>
            <a:ext cx="964595" cy="128016"/>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14807" y="5404104"/>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۲۲٫۹٪</a:t>
            </a:r>
          </a:p>
        </p:txBody>
      </p:sp>
      <p:sp>
        <p:nvSpPr>
          <p:cNvPr id="66" name="Rounded Rectangle 65"/>
          <p:cNvSpPr/>
          <p:nvPr/>
        </p:nvSpPr>
        <p:spPr>
          <a:xfrm>
            <a:off x="377647" y="5870448"/>
            <a:ext cx="5486400" cy="420624"/>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120847" y="5916168"/>
            <a:ext cx="2606040" cy="329184"/>
          </a:xfrm>
          <a:prstGeom prst="rect">
            <a:avLst/>
          </a:prstGeom>
          <a:noFill/>
        </p:spPr>
        <p:txBody>
          <a:bodyPr wrap="square" anchor="t">
            <a:spAutoFit/>
          </a:bodyPr>
          <a:lstStyle/>
          <a:p>
            <a:pPr algn="r" rtl="1">
              <a:lnSpc>
                <a:spcPct val="125000"/>
              </a:lnSpc>
            </a:pPr>
            <a:r>
              <a:rPr sz="1200" b="1">
                <a:solidFill>
                  <a:srgbClr val="F2F5F8"/>
                </a:solidFill>
                <a:latin typeface="Tahoma"/>
              </a:rPr>
              <a:t>فارس</a:t>
            </a:r>
          </a:p>
        </p:txBody>
      </p:sp>
      <p:sp>
        <p:nvSpPr>
          <p:cNvPr id="68" name="Rectangle 67"/>
          <p:cNvSpPr/>
          <p:nvPr/>
        </p:nvSpPr>
        <p:spPr>
          <a:xfrm>
            <a:off x="1948940" y="6016752"/>
            <a:ext cx="989026" cy="128016"/>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514807" y="5916168"/>
            <a:ext cx="822960" cy="329184"/>
          </a:xfrm>
          <a:prstGeom prst="rect">
            <a:avLst/>
          </a:prstGeom>
          <a:noFill/>
        </p:spPr>
        <p:txBody>
          <a:bodyPr wrap="square" anchor="t">
            <a:spAutoFit/>
          </a:bodyPr>
          <a:lstStyle/>
          <a:p>
            <a:pPr algn="l" rtl="1">
              <a:lnSpc>
                <a:spcPct val="125000"/>
              </a:lnSpc>
            </a:pPr>
            <a:r>
              <a:rPr sz="1200" b="0">
                <a:solidFill>
                  <a:srgbClr val="A8B3C2"/>
                </a:solidFill>
                <a:latin typeface="Tahoma"/>
              </a:rPr>
              <a:t>۲۳٫۵٪</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تفسیر</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این ارقام یعنی چه؟</a:t>
            </a:r>
          </a:p>
        </p:txBody>
      </p:sp>
      <p:sp>
        <p:nvSpPr>
          <p:cNvPr id="4" name="Rounded Rectangle 3"/>
          <p:cNvSpPr/>
          <p:nvPr/>
        </p:nvSpPr>
        <p:spPr>
          <a:xfrm>
            <a:off x="566928" y="1417320"/>
            <a:ext cx="11064240" cy="105156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554480"/>
            <a:ext cx="10607040" cy="822960"/>
          </a:xfrm>
          <a:prstGeom prst="rect">
            <a:avLst/>
          </a:prstGeom>
          <a:noFill/>
        </p:spPr>
        <p:txBody>
          <a:bodyPr wrap="square" anchor="t">
            <a:spAutoFit/>
          </a:bodyPr>
          <a:lstStyle/>
          <a:p>
            <a:pPr algn="r" rtl="1">
              <a:lnSpc>
                <a:spcPct val="125000"/>
              </a:lnSpc>
            </a:pPr>
            <a:r>
              <a:rPr sz="1200" b="0">
                <a:solidFill>
                  <a:srgbClr val="A8B3C2"/>
                </a:solidFill>
                <a:latin typeface="Tahoma"/>
              </a:rPr>
              <a:t>اعداد فصل‌های پیشین یک الگوی آشنا را نشان می‌دهند: یارانهٔ انرژی که به‌صورت یکسان روی تعرفه سوار شده، در عمل نامتقارن توزیع می‌شود. هرچه مشترک بالاتر روی نردبان باشد، سهم بیشتری از این یارانه می‌برد — نه چون نیازمندتر است، بلکه چون بیشتر مصرف می‌کند.</a:t>
            </a:r>
          </a:p>
        </p:txBody>
      </p:sp>
      <p:sp>
        <p:nvSpPr>
          <p:cNvPr id="6" name="Rounded Rectangle 5"/>
          <p:cNvSpPr/>
          <p:nvPr/>
        </p:nvSpPr>
        <p:spPr>
          <a:xfrm>
            <a:off x="566928" y="2651760"/>
            <a:ext cx="11064240" cy="32918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2834640"/>
            <a:ext cx="10607040" cy="2926080"/>
          </a:xfrm>
          <a:prstGeom prst="rect">
            <a:avLst/>
          </a:prstGeom>
          <a:noFill/>
        </p:spPr>
        <p:txBody>
          <a:bodyPr wrap="square" anchor="t">
            <a:spAutoFit/>
          </a:bodyPr>
          <a:lstStyle/>
          <a:p>
            <a:pPr algn="r" rtl="1">
              <a:lnSpc>
                <a:spcPct val="125000"/>
              </a:lnSpc>
            </a:pPr>
            <a:r>
              <a:rPr sz="1200" b="0">
                <a:solidFill>
                  <a:srgbClr val="A8B3C2"/>
                </a:solidFill>
                <a:latin typeface="Tahoma"/>
              </a:rPr>
              <a:t>یارانه با مصرف بالا می‌رود، نه با نیاز</a:t>
            </a:r>
          </a:p>
          <a:p>
            <a:pPr algn="r" rtl="1">
              <a:lnSpc>
                <a:spcPct val="125000"/>
              </a:lnSpc>
            </a:pPr>
            <a:r>
              <a:rPr sz="1200" b="0">
                <a:solidFill>
                  <a:srgbClr val="A8B3C2"/>
                </a:solidFill>
                <a:latin typeface="Tahoma"/>
              </a:rPr>
              <a:t>دولت برای هر واحد گاز، صرف‌نظر از پلهٔ مصرف، یارانه می‌پردازد. نتیجه این است که ۱۴٫۴٪ از مشترکین که بالاتر از الگو مصرف می‌کنند، بزرگ‌ترین سهم مطلق یارانهٔ پنهان را دریافت می‌کنند.</a:t>
            </a:r>
          </a:p>
          <a:p>
            <a:pPr algn="r" rtl="1">
              <a:lnSpc>
                <a:spcPct val="125000"/>
              </a:lnSpc>
            </a:pPr>
          </a:p>
          <a:p>
            <a:pPr algn="r" rtl="1">
              <a:lnSpc>
                <a:spcPct val="125000"/>
              </a:lnSpc>
            </a:pPr>
            <a:r>
              <a:rPr sz="1200" b="0">
                <a:solidFill>
                  <a:srgbClr val="A8B3C2"/>
                </a:solidFill>
                <a:latin typeface="Tahoma"/>
              </a:rPr>
              <a:t>سرما فقط بخشی از ماجراست</a:t>
            </a:r>
          </a:p>
          <a:p>
            <a:pPr algn="r" rtl="1">
              <a:lnSpc>
                <a:spcPct val="125000"/>
              </a:lnSpc>
            </a:pPr>
            <a:r>
              <a:rPr sz="1200" b="0">
                <a:solidFill>
                  <a:srgbClr val="A8B3C2"/>
                </a:solidFill>
                <a:latin typeface="Tahoma"/>
              </a:rPr>
              <a:t>میانگین دمای استان تنها بخشی از پراکندگی مصرف مازاد را توضیح می‌دهد. باقی‌مانده را باید در عایق‌بندی ساختمان، سن وسایل گرمایشی، الگوی رفتاری خانوار و ضعف سیگنال قیمتی در پله‌های بالا جست‌وجو کرد.</a:t>
            </a:r>
          </a:p>
          <a:p>
            <a:pPr algn="r" rtl="1">
              <a:lnSpc>
                <a:spcPct val="125000"/>
              </a:lnSpc>
            </a:pPr>
          </a:p>
          <a:p>
            <a:pPr algn="r" rtl="1">
              <a:lnSpc>
                <a:spcPct val="125000"/>
              </a:lnSpc>
            </a:pPr>
            <a:r>
              <a:rPr sz="1200" b="0">
                <a:solidFill>
                  <a:srgbClr val="A8B3C2"/>
                </a:solidFill>
                <a:latin typeface="Tahoma"/>
              </a:rPr>
              <a:t>شیب تعرفه در بالای نردبان کم‌جان است</a:t>
            </a:r>
          </a:p>
          <a:p>
            <a:pPr algn="r" rtl="1">
              <a:lnSpc>
                <a:spcPct val="125000"/>
              </a:lnSpc>
            </a:pPr>
            <a:r>
              <a:rPr sz="1200" b="0">
                <a:solidFill>
                  <a:srgbClr val="A8B3C2"/>
                </a:solidFill>
                <a:latin typeface="Tahoma"/>
              </a:rPr>
              <a:t>وقتی فاصلهٔ قیمتی میان پله‌های بالا کم باشد، مشترک پرمصرف انگیزهٔ چندانی برای کاهش مصرف ندارد. سیگنال قیمتی دقیقاً جایی ضعیف است که بیشترین اثر را دارد.</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مقایسهٔ بین‌المللی</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ایران در مقایسه با جهان</a:t>
            </a:r>
          </a:p>
        </p:txBody>
      </p:sp>
      <p:sp>
        <p:nvSpPr>
          <p:cNvPr id="4" name="Rounded Rectangle 3"/>
          <p:cNvSpPr/>
          <p:nvPr/>
        </p:nvSpPr>
        <p:spPr>
          <a:xfrm>
            <a:off x="6355080" y="1417320"/>
            <a:ext cx="5276088" cy="23774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00200"/>
            <a:ext cx="4846320" cy="2011680"/>
          </a:xfrm>
          <a:prstGeom prst="rect">
            <a:avLst/>
          </a:prstGeom>
          <a:noFill/>
        </p:spPr>
        <p:txBody>
          <a:bodyPr wrap="square" anchor="t">
            <a:spAutoFit/>
          </a:bodyPr>
          <a:lstStyle/>
          <a:p>
            <a:pPr algn="r" rtl="1">
              <a:lnSpc>
                <a:spcPct val="125000"/>
              </a:lnSpc>
            </a:pPr>
            <a:r>
              <a:rPr sz="1200" b="0">
                <a:solidFill>
                  <a:srgbClr val="A8B3C2"/>
                </a:solidFill>
                <a:latin typeface="Tahoma"/>
              </a:rPr>
              <a:t>مصرف گاز خانگی به‌ازای هر نفر</a:t>
            </a:r>
          </a:p>
          <a:p>
            <a:pPr algn="r" rtl="1">
              <a:lnSpc>
                <a:spcPct val="125000"/>
              </a:lnSpc>
            </a:pPr>
            <a:r>
              <a:rPr sz="1200" b="0">
                <a:solidFill>
                  <a:srgbClr val="A8B3C2"/>
                </a:solidFill>
                <a:latin typeface="Tahoma"/>
              </a:rPr>
              <a:t>• ایران — ۱۰۵۰٫۰ مترمکعب در سال</a:t>
            </a:r>
          </a:p>
          <a:p>
            <a:pPr algn="r" rtl="1">
              <a:lnSpc>
                <a:spcPct val="125000"/>
              </a:lnSpc>
            </a:pPr>
            <a:r>
              <a:rPr sz="1200" b="0">
                <a:solidFill>
                  <a:srgbClr val="A8B3C2"/>
                </a:solidFill>
                <a:latin typeface="Tahoma"/>
              </a:rPr>
              <a:t>• روسیه — ۸۳۰٫۰ مترمکعب در سال</a:t>
            </a:r>
          </a:p>
          <a:p>
            <a:pPr algn="r" rtl="1">
              <a:lnSpc>
                <a:spcPct val="125000"/>
              </a:lnSpc>
            </a:pPr>
            <a:r>
              <a:rPr sz="1200" b="0">
                <a:solidFill>
                  <a:srgbClr val="A8B3C2"/>
                </a:solidFill>
                <a:latin typeface="Tahoma"/>
              </a:rPr>
              <a:t>• ازبکستان — ۶۴۰٫۰ مترمکعب در سال</a:t>
            </a:r>
          </a:p>
          <a:p>
            <a:pPr algn="r" rtl="1">
              <a:lnSpc>
                <a:spcPct val="125000"/>
              </a:lnSpc>
            </a:pPr>
            <a:r>
              <a:rPr sz="1200" b="0">
                <a:solidFill>
                  <a:srgbClr val="A8B3C2"/>
                </a:solidFill>
                <a:latin typeface="Tahoma"/>
              </a:rPr>
              <a:t>• ترکیه — ۳۳۰٫۰ مترمکعب در سال</a:t>
            </a:r>
          </a:p>
          <a:p>
            <a:pPr algn="r" rtl="1">
              <a:lnSpc>
                <a:spcPct val="125000"/>
              </a:lnSpc>
            </a:pPr>
            <a:r>
              <a:rPr sz="1200" b="0">
                <a:solidFill>
                  <a:srgbClr val="A8B3C2"/>
                </a:solidFill>
                <a:latin typeface="Tahoma"/>
              </a:rPr>
              <a:t>• ایتالیا — ۳۱۰٫۰ مترمکعب در سال</a:t>
            </a:r>
          </a:p>
          <a:p>
            <a:pPr algn="r" rtl="1">
              <a:lnSpc>
                <a:spcPct val="125000"/>
              </a:lnSpc>
            </a:pPr>
            <a:r>
              <a:rPr sz="1200" b="0">
                <a:solidFill>
                  <a:srgbClr val="A8B3C2"/>
                </a:solidFill>
                <a:latin typeface="Tahoma"/>
              </a:rPr>
              <a:t>• آلمان — ۲۹۰٫۰ مترمکعب در سال</a:t>
            </a:r>
          </a:p>
        </p:txBody>
      </p:sp>
      <p:sp>
        <p:nvSpPr>
          <p:cNvPr id="6" name="Rounded Rectangle 5"/>
          <p:cNvSpPr/>
          <p:nvPr/>
        </p:nvSpPr>
        <p:spPr>
          <a:xfrm>
            <a:off x="566928" y="1417320"/>
            <a:ext cx="5532120" cy="237744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00200"/>
            <a:ext cx="5120640" cy="2011680"/>
          </a:xfrm>
          <a:prstGeom prst="rect">
            <a:avLst/>
          </a:prstGeom>
          <a:noFill/>
        </p:spPr>
        <p:txBody>
          <a:bodyPr wrap="square" anchor="t">
            <a:spAutoFit/>
          </a:bodyPr>
          <a:lstStyle/>
          <a:p>
            <a:pPr algn="r" rtl="1">
              <a:lnSpc>
                <a:spcPct val="125000"/>
              </a:lnSpc>
            </a:pPr>
            <a:r>
              <a:rPr sz="1200" b="0">
                <a:solidFill>
                  <a:srgbClr val="A8B3C2"/>
                </a:solidFill>
                <a:latin typeface="Tahoma"/>
              </a:rPr>
              <a:t>یارانهٔ انرژی به‌عنوان درصدی از تولید ناخالص داخلی</a:t>
            </a:r>
          </a:p>
          <a:p>
            <a:pPr algn="r" rtl="1">
              <a:lnSpc>
                <a:spcPct val="125000"/>
              </a:lnSpc>
            </a:pPr>
            <a:r>
              <a:rPr sz="1200" b="0">
                <a:solidFill>
                  <a:srgbClr val="A8B3C2"/>
                </a:solidFill>
                <a:latin typeface="Tahoma"/>
              </a:rPr>
              <a:t>• ایران — ۱۲٫۰ درصد</a:t>
            </a:r>
          </a:p>
          <a:p>
            <a:pPr algn="r" rtl="1">
              <a:lnSpc>
                <a:spcPct val="125000"/>
              </a:lnSpc>
            </a:pPr>
            <a:r>
              <a:rPr sz="1200" b="0">
                <a:solidFill>
                  <a:srgbClr val="A8B3C2"/>
                </a:solidFill>
                <a:latin typeface="Tahoma"/>
              </a:rPr>
              <a:t>• الجزایر — ۶٫۵ درصد</a:t>
            </a:r>
          </a:p>
          <a:p>
            <a:pPr algn="r" rtl="1">
              <a:lnSpc>
                <a:spcPct val="125000"/>
              </a:lnSpc>
            </a:pPr>
            <a:r>
              <a:rPr sz="1200" b="0">
                <a:solidFill>
                  <a:srgbClr val="A8B3C2"/>
                </a:solidFill>
                <a:latin typeface="Tahoma"/>
              </a:rPr>
              <a:t>• مصر — ۳٫۰ درصد</a:t>
            </a:r>
          </a:p>
          <a:p>
            <a:pPr algn="r" rtl="1">
              <a:lnSpc>
                <a:spcPct val="125000"/>
              </a:lnSpc>
            </a:pPr>
            <a:r>
              <a:rPr sz="1200" b="0">
                <a:solidFill>
                  <a:srgbClr val="A8B3C2"/>
                </a:solidFill>
                <a:latin typeface="Tahoma"/>
              </a:rPr>
              <a:t>• عربستان — ۲٫۵ درصد</a:t>
            </a:r>
          </a:p>
          <a:p>
            <a:pPr algn="r" rtl="1">
              <a:lnSpc>
                <a:spcPct val="125000"/>
              </a:lnSpc>
            </a:pPr>
            <a:r>
              <a:rPr sz="1200" b="0">
                <a:solidFill>
                  <a:srgbClr val="A8B3C2"/>
                </a:solidFill>
                <a:latin typeface="Tahoma"/>
              </a:rPr>
              <a:t>• روسیه — ۱٫۵ درصد</a:t>
            </a:r>
          </a:p>
          <a:p>
            <a:pPr algn="r" rtl="1">
              <a:lnSpc>
                <a:spcPct val="125000"/>
              </a:lnSpc>
            </a:pPr>
            <a:r>
              <a:rPr sz="1200" b="0">
                <a:solidFill>
                  <a:srgbClr val="A8B3C2"/>
                </a:solidFill>
                <a:latin typeface="Tahoma"/>
              </a:rPr>
              <a:t>• هند — ۱٫۰ درصد</a:t>
            </a:r>
          </a:p>
        </p:txBody>
      </p:sp>
      <p:sp>
        <p:nvSpPr>
          <p:cNvPr id="8" name="Rounded Rectangle 7"/>
          <p:cNvSpPr/>
          <p:nvPr/>
        </p:nvSpPr>
        <p:spPr>
          <a:xfrm>
            <a:off x="566928" y="3977639"/>
            <a:ext cx="11064240" cy="196596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4114800"/>
            <a:ext cx="10607040" cy="1691640"/>
          </a:xfrm>
          <a:prstGeom prst="rect">
            <a:avLst/>
          </a:prstGeom>
          <a:noFill/>
        </p:spPr>
        <p:txBody>
          <a:bodyPr wrap="square" anchor="t">
            <a:spAutoFit/>
          </a:bodyPr>
          <a:lstStyle/>
          <a:p>
            <a:pPr algn="r" rtl="1">
              <a:lnSpc>
                <a:spcPct val="125000"/>
              </a:lnSpc>
            </a:pPr>
            <a:r>
              <a:rPr sz="1150" b="0">
                <a:solidFill>
                  <a:srgbClr val="A8B3C2"/>
                </a:solidFill>
                <a:latin typeface="Tahoma"/>
              </a:rPr>
              <a:t>ذخایر زیاد، مصرف زیاد</a:t>
            </a:r>
          </a:p>
          <a:p>
            <a:pPr algn="r" rtl="1">
              <a:lnSpc>
                <a:spcPct val="125000"/>
              </a:lnSpc>
            </a:pPr>
            <a:r>
              <a:rPr sz="1150" b="0">
                <a:solidFill>
                  <a:srgbClr val="A8B3C2"/>
                </a:solidFill>
                <a:latin typeface="Tahoma"/>
              </a:rPr>
              <a:t>ایران از بزرگ‌ترین دارندگان ذخایر گاز جهان است و همین فراوانی، تعرفهٔ ارزان و مصرف سرانهٔ بالا را تاریخاً توجیه کرده است.</a:t>
            </a:r>
          </a:p>
          <a:p>
            <a:pPr algn="r" rtl="1">
              <a:lnSpc>
                <a:spcPct val="125000"/>
              </a:lnSpc>
            </a:pPr>
          </a:p>
          <a:p>
            <a:pPr algn="r" rtl="1">
              <a:lnSpc>
                <a:spcPct val="125000"/>
              </a:lnSpc>
            </a:pPr>
            <a:r>
              <a:rPr sz="1150" b="0">
                <a:solidFill>
                  <a:srgbClr val="A8B3C2"/>
                </a:solidFill>
                <a:latin typeface="Tahoma"/>
              </a:rPr>
              <a:t>همان الگو در سوخت‌های دیگر</a:t>
            </a:r>
          </a:p>
          <a:p>
            <a:pPr algn="r" rtl="1">
              <a:lnSpc>
                <a:spcPct val="125000"/>
              </a:lnSpc>
            </a:pPr>
            <a:r>
              <a:rPr sz="1150" b="0">
                <a:solidFill>
                  <a:srgbClr val="A8B3C2"/>
                </a:solidFill>
                <a:latin typeface="Tahoma"/>
              </a:rPr>
              <a:t>در یارانهٔ بنزین هم دهک‌های پردرآمد چند برابر دهک‌های کم‌درآمد بهره می‌برند. آنچه این گزارش برای گاز خانگی نشان می‌دهد، تکرار همان الگوست.</a:t>
            </a:r>
          </a:p>
          <a:p>
            <a:pPr algn="r" rtl="1">
              <a:lnSpc>
                <a:spcPct val="125000"/>
              </a:lnSpc>
            </a:pPr>
          </a:p>
          <a:p>
            <a:pPr algn="r" rtl="1">
              <a:lnSpc>
                <a:spcPct val="125000"/>
              </a:lnSpc>
            </a:pPr>
            <a:r>
              <a:rPr sz="1150" b="0">
                <a:solidFill>
                  <a:srgbClr val="A8B3C2"/>
                </a:solidFill>
                <a:latin typeface="Tahoma"/>
              </a:rPr>
              <a:t>تجربهٔ کشورهایی که اصلاح کردند</a:t>
            </a:r>
          </a:p>
          <a:p>
            <a:pPr algn="r" rtl="1">
              <a:lnSpc>
                <a:spcPct val="125000"/>
              </a:lnSpc>
            </a:pPr>
            <a:r>
              <a:rPr sz="1150" b="0">
                <a:solidFill>
                  <a:srgbClr val="A8B3C2"/>
                </a:solidFill>
                <a:latin typeface="Tahoma"/>
              </a:rPr>
              <a:t>کشورهایی که یارانهٔ انرژی را هدفمند کرده‌اند یک نقطهٔ مشترک دارند: جایگزینی قیمت یکسان با تعرفهٔ پلکانیِ شیب‌دار، همراه با کمک نقدی هدفمند به‌جای یارانهٔ کالایی.</a:t>
            </a:r>
          </a:p>
        </p:txBody>
      </p:sp>
      <p:sp>
        <p:nvSpPr>
          <p:cNvPr id="10" name="TextBox 9"/>
          <p:cNvSpPr txBox="1"/>
          <p:nvPr/>
        </p:nvSpPr>
        <p:spPr>
          <a:xfrm>
            <a:off x="566928" y="6035040"/>
            <a:ext cx="11064240" cy="457200"/>
          </a:xfrm>
          <a:prstGeom prst="rect">
            <a:avLst/>
          </a:prstGeom>
          <a:noFill/>
        </p:spPr>
        <p:txBody>
          <a:bodyPr wrap="square" anchor="t">
            <a:spAutoFit/>
          </a:bodyPr>
          <a:lstStyle/>
          <a:p>
            <a:pPr algn="r" rtl="1">
              <a:lnSpc>
                <a:spcPct val="125000"/>
              </a:lnSpc>
            </a:pPr>
            <a:r>
              <a:rPr sz="1000" b="0">
                <a:solidFill>
                  <a:srgbClr val="6F7D8F"/>
                </a:solidFill>
                <a:latin typeface="Tahoma"/>
              </a:rPr>
              <a:t>ارقام مقایسه‌ای تقریبی و از گزارش‌های عمومی نهادهای بین‌المللی برگرفته شده‌اند. پیش از انتشار رسمی، با منبع مورد تأیید سازمان بازبینی و در همین پنل به‌روزرسانی شوند.</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مسئله</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تعریف مسئله</a:t>
            </a:r>
          </a:p>
        </p:txBody>
      </p:sp>
      <p:sp>
        <p:nvSpPr>
          <p:cNvPr id="4" name="Rounded Rectangle 3"/>
          <p:cNvSpPr/>
          <p:nvPr/>
        </p:nvSpPr>
        <p:spPr>
          <a:xfrm>
            <a:off x="566928" y="1417320"/>
            <a:ext cx="11064240" cy="182880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1645920"/>
            <a:ext cx="10607040" cy="1463040"/>
          </a:xfrm>
          <a:prstGeom prst="rect">
            <a:avLst/>
          </a:prstGeom>
          <a:noFill/>
        </p:spPr>
        <p:txBody>
          <a:bodyPr wrap="square" anchor="t">
            <a:spAutoFit/>
          </a:bodyPr>
          <a:lstStyle/>
          <a:p>
            <a:pPr algn="r" rtl="1">
              <a:lnSpc>
                <a:spcPct val="125000"/>
              </a:lnSpc>
            </a:pPr>
            <a:r>
              <a:rPr sz="1300" b="0">
                <a:solidFill>
                  <a:srgbClr val="A8B3C2"/>
                </a:solidFill>
                <a:latin typeface="Tahoma"/>
              </a:rPr>
              <a:t>اگر یارانهٔ گاز خانگی را هزینه‌ای عمومی بدانیم، پرسش سیاستی روشن است: این هزینه با چه دقتی به کسانی می‌رسد که واقعاً به آن نیاز دارند؟ داده‌های این گزارش پاسخ می‌دهند: نه با دقت زیاد. اقلیم تنها بخشی از مصرف مازاد را توضیح می‌دهد، پس نمی‌توان همهٔ آن را «نیاز اقلیمی موجه» دانست.</a:t>
            </a:r>
          </a:p>
        </p:txBody>
      </p:sp>
      <p:sp>
        <p:nvSpPr>
          <p:cNvPr id="6" name="Rounded Rectangle 5"/>
          <p:cNvSpPr/>
          <p:nvPr/>
        </p:nvSpPr>
        <p:spPr>
          <a:xfrm>
            <a:off x="566928" y="3429000"/>
            <a:ext cx="11064240" cy="251460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3611880"/>
            <a:ext cx="10607040" cy="2194560"/>
          </a:xfrm>
          <a:prstGeom prst="rect">
            <a:avLst/>
          </a:prstGeom>
          <a:noFill/>
        </p:spPr>
        <p:txBody>
          <a:bodyPr wrap="square" anchor="t">
            <a:spAutoFit/>
          </a:bodyPr>
          <a:lstStyle/>
          <a:p>
            <a:pPr algn="r" rtl="1">
              <a:lnSpc>
                <a:spcPct val="125000"/>
              </a:lnSpc>
            </a:pPr>
            <a:r>
              <a:rPr sz="1300" b="0">
                <a:solidFill>
                  <a:srgbClr val="F2F5F8"/>
                </a:solidFill>
                <a:latin typeface="Tahoma"/>
              </a:rPr>
              <a:t>نتیجه‌گیری</a:t>
            </a:r>
          </a:p>
          <a:p>
            <a:pPr algn="r" rtl="1">
              <a:lnSpc>
                <a:spcPct val="125000"/>
              </a:lnSpc>
            </a:pPr>
            <a:r>
              <a:rPr sz="1300" b="0">
                <a:solidFill>
                  <a:srgbClr val="F2F5F8"/>
                </a:solidFill>
                <a:latin typeface="Tahoma"/>
              </a:rPr>
              <a:t>داده‌ها یک نکته را روشن می‌گویند: مسئلهٔ گاز خانگی ایران بیش از آنکه مسئلهٔ کمبود باشد، مسئلهٔ توزیع است. اکثریت بزرگی از مشترکین کم‌مصرف‌اند و اقلیتی کوچک سهم نامتناسبی از گاز و یارانهٔ پنهان را می‌برند. چون بخش مهمی از این مصرف مازاد را اقلیم توضیح نمی‌دهد، فضای واقعی برای سیاست‌گذاری وجود دارد — و اهرم اصلی، شیب تعرفه در پله‌های بالای نردبان است.</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راهکار</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راهکارهای عملی</a:t>
            </a:r>
          </a:p>
        </p:txBody>
      </p:sp>
      <p:sp>
        <p:nvSpPr>
          <p:cNvPr id="4" name="Rounded Rectangle 3"/>
          <p:cNvSpPr/>
          <p:nvPr/>
        </p:nvSpPr>
        <p:spPr>
          <a:xfrm>
            <a:off x="6355080" y="1417320"/>
            <a:ext cx="5276088" cy="452628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00200"/>
            <a:ext cx="4818888" cy="4160520"/>
          </a:xfrm>
          <a:prstGeom prst="rect">
            <a:avLst/>
          </a:prstGeom>
          <a:noFill/>
        </p:spPr>
        <p:txBody>
          <a:bodyPr wrap="square" anchor="t">
            <a:spAutoFit/>
          </a:bodyPr>
          <a:lstStyle/>
          <a:p>
            <a:pPr algn="r" rtl="1">
              <a:lnSpc>
                <a:spcPct val="125000"/>
              </a:lnSpc>
            </a:pPr>
            <a:r>
              <a:rPr sz="1150" b="0">
                <a:solidFill>
                  <a:srgbClr val="A8B3C2"/>
                </a:solidFill>
                <a:latin typeface="Tahoma"/>
              </a:rPr>
              <a:t>شیب قیمتی پله‌های بالا را تندتر کنید  (کوتاه‌مدت · بالا)</a:t>
            </a:r>
          </a:p>
          <a:p>
            <a:pPr algn="r" rtl="1">
              <a:lnSpc>
                <a:spcPct val="125000"/>
              </a:lnSpc>
            </a:pPr>
            <a:r>
              <a:rPr sz="1150" b="0">
                <a:solidFill>
                  <a:srgbClr val="A8B3C2"/>
                </a:solidFill>
                <a:latin typeface="Tahoma"/>
              </a:rPr>
              <a:t>تندترکردن شیب در پله‌های بالای نردبان، دقیقاً همان اقلیتی را هدف می‌گیرد که بیشترین سهم مصرف مازاد را دارند، بدون آنکه به پله‌های کم‌مصرف فشار بیاورد.</a:t>
            </a:r>
          </a:p>
          <a:p>
            <a:pPr algn="r" rtl="1">
              <a:lnSpc>
                <a:spcPct val="125000"/>
              </a:lnSpc>
            </a:pPr>
          </a:p>
          <a:p>
            <a:pPr algn="r" rtl="1">
              <a:lnSpc>
                <a:spcPct val="125000"/>
              </a:lnSpc>
            </a:pPr>
            <a:r>
              <a:rPr sz="1150" b="0">
                <a:solidFill>
                  <a:srgbClr val="A8B3C2"/>
                </a:solidFill>
                <a:latin typeface="Tahoma"/>
              </a:rPr>
              <a:t>الگوی مصرف را اقلیمی کنید  (میان‌مدت · بالا)</a:t>
            </a:r>
          </a:p>
          <a:p>
            <a:pPr algn="r" rtl="1">
              <a:lnSpc>
                <a:spcPct val="125000"/>
              </a:lnSpc>
            </a:pPr>
            <a:r>
              <a:rPr sz="1150" b="0">
                <a:solidFill>
                  <a:srgbClr val="A8B3C2"/>
                </a:solidFill>
                <a:latin typeface="Tahoma"/>
              </a:rPr>
              <a:t>سقف الگو در استان سرد و گرم نباید یکی باشد. تعریف الگوی متناسب با دمای هر منطقه، مصرف موجه را از مصرف ناکارآمد جدا می‌کند.</a:t>
            </a:r>
          </a:p>
          <a:p>
            <a:pPr algn="r" rtl="1">
              <a:lnSpc>
                <a:spcPct val="125000"/>
              </a:lnSpc>
            </a:pPr>
          </a:p>
          <a:p>
            <a:pPr algn="r" rtl="1">
              <a:lnSpc>
                <a:spcPct val="125000"/>
              </a:lnSpc>
            </a:pPr>
            <a:r>
              <a:rPr sz="1150" b="0">
                <a:solidFill>
                  <a:srgbClr val="A8B3C2"/>
                </a:solidFill>
                <a:latin typeface="Tahoma"/>
              </a:rPr>
              <a:t>عایق‌بندی را جایی که مؤثر است تشویق کنید  (میان‌مدت · متوسط)</a:t>
            </a:r>
          </a:p>
          <a:p>
            <a:pPr algn="r" rtl="1">
              <a:lnSpc>
                <a:spcPct val="125000"/>
              </a:lnSpc>
            </a:pPr>
            <a:r>
              <a:rPr sz="1150" b="0">
                <a:solidFill>
                  <a:srgbClr val="A8B3C2"/>
                </a:solidFill>
                <a:latin typeface="Tahoma"/>
              </a:rPr>
              <a:t>استان‌هایی که بیش از آنچه دمایشان توجیه می‌کند مصرف دارند، بازدهی سرمایه‌گذاری در بهسازی ساختمان و تعویض وسایل گرمایشی در آن‌ها بیشترین است.</a:t>
            </a:r>
          </a:p>
        </p:txBody>
      </p:sp>
      <p:sp>
        <p:nvSpPr>
          <p:cNvPr id="6" name="Rounded Rectangle 5"/>
          <p:cNvSpPr/>
          <p:nvPr/>
        </p:nvSpPr>
        <p:spPr>
          <a:xfrm>
            <a:off x="566928" y="1417320"/>
            <a:ext cx="5532120" cy="452628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600200"/>
            <a:ext cx="5074920" cy="4160520"/>
          </a:xfrm>
          <a:prstGeom prst="rect">
            <a:avLst/>
          </a:prstGeom>
          <a:noFill/>
        </p:spPr>
        <p:txBody>
          <a:bodyPr wrap="square" anchor="t">
            <a:spAutoFit/>
          </a:bodyPr>
          <a:lstStyle/>
          <a:p>
            <a:pPr algn="r" rtl="1">
              <a:lnSpc>
                <a:spcPct val="125000"/>
              </a:lnSpc>
            </a:pPr>
            <a:r>
              <a:rPr sz="1150" b="0">
                <a:solidFill>
                  <a:srgbClr val="A8B3C2"/>
                </a:solidFill>
                <a:latin typeface="Tahoma"/>
              </a:rPr>
              <a:t>صرفه‌جویی را به جیب مشترک برگردانید  (کوتاه‌مدت · متوسط)</a:t>
            </a:r>
          </a:p>
          <a:p>
            <a:pPr algn="r" rtl="1">
              <a:lnSpc>
                <a:spcPct val="125000"/>
              </a:lnSpc>
            </a:pPr>
            <a:r>
              <a:rPr sz="1150" b="0">
                <a:solidFill>
                  <a:srgbClr val="A8B3C2"/>
                </a:solidFill>
                <a:latin typeface="Tahoma"/>
              </a:rPr>
              <a:t>پاداش نقدی برای ماندن زیر الگو، سیگنال قیمتی را دوطرفه می‌کند: هم جریمهٔ پرمصرفی و هم پاداش کم‌مصرفی.</a:t>
            </a:r>
          </a:p>
          <a:p>
            <a:pPr algn="r" rtl="1">
              <a:lnSpc>
                <a:spcPct val="125000"/>
              </a:lnSpc>
            </a:pPr>
          </a:p>
          <a:p>
            <a:pPr algn="r" rtl="1">
              <a:lnSpc>
                <a:spcPct val="125000"/>
              </a:lnSpc>
            </a:pPr>
            <a:r>
              <a:rPr sz="1150" b="0">
                <a:solidFill>
                  <a:srgbClr val="A8B3C2"/>
                </a:solidFill>
                <a:latin typeface="Tahoma"/>
              </a:rPr>
              <a:t>شفافیت مصرف را به خود مشترک بدهید  (کوتاه‌مدت · متوسط)</a:t>
            </a:r>
          </a:p>
          <a:p>
            <a:pPr algn="r" rtl="1">
              <a:lnSpc>
                <a:spcPct val="125000"/>
              </a:lnSpc>
            </a:pPr>
            <a:r>
              <a:rPr sz="1150" b="0">
                <a:solidFill>
                  <a:srgbClr val="A8B3C2"/>
                </a:solidFill>
                <a:latin typeface="Tahoma"/>
              </a:rPr>
              <a:t>وقتی مشترک بداند در کدام پله است و تا سقف الگو چقدر فاصله دارد، رفتارش تغییر می‌کند. این ارزان‌ترین ابزار در کل فهرست است.</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E14"/>
        </a:solidFill>
        <a:effectLst/>
      </p:bgPr>
    </p:bg>
    <p:spTree>
      <p:nvGrpSpPr>
        <p:cNvPr id="1" name=""/>
        <p:cNvGrpSpPr/>
        <p:nvPr/>
      </p:nvGrpSpPr>
      <p:grpSpPr/>
      <p:sp>
        <p:nvSpPr>
          <p:cNvPr id="2" name="TextBox 1"/>
          <p:cNvSpPr txBox="1"/>
          <p:nvPr/>
        </p:nvSpPr>
        <p:spPr>
          <a:xfrm>
            <a:off x="566928" y="347472"/>
            <a:ext cx="11064240" cy="310896"/>
          </a:xfrm>
          <a:prstGeom prst="rect">
            <a:avLst/>
          </a:prstGeom>
          <a:noFill/>
        </p:spPr>
        <p:txBody>
          <a:bodyPr wrap="square" anchor="t">
            <a:spAutoFit/>
          </a:bodyPr>
          <a:lstStyle/>
          <a:p>
            <a:pPr algn="r" rtl="1">
              <a:lnSpc>
                <a:spcPct val="125000"/>
              </a:lnSpc>
            </a:pPr>
            <a:r>
              <a:rPr sz="1200" b="1">
                <a:solidFill>
                  <a:srgbClr val="F08040"/>
                </a:solidFill>
                <a:latin typeface="Tahoma"/>
              </a:rPr>
              <a:t>پیوست</a:t>
            </a:r>
          </a:p>
        </p:txBody>
      </p:sp>
      <p:sp>
        <p:nvSpPr>
          <p:cNvPr id="3" name="TextBox 2"/>
          <p:cNvSpPr txBox="1"/>
          <p:nvPr/>
        </p:nvSpPr>
        <p:spPr>
          <a:xfrm>
            <a:off x="566928" y="658368"/>
            <a:ext cx="11064240" cy="658368"/>
          </a:xfrm>
          <a:prstGeom prst="rect">
            <a:avLst/>
          </a:prstGeom>
          <a:noFill/>
        </p:spPr>
        <p:txBody>
          <a:bodyPr wrap="square" anchor="t">
            <a:spAutoFit/>
          </a:bodyPr>
          <a:lstStyle/>
          <a:p>
            <a:pPr algn="r" rtl="1">
              <a:lnSpc>
                <a:spcPct val="125000"/>
              </a:lnSpc>
            </a:pPr>
            <a:r>
              <a:rPr sz="3000" b="1">
                <a:solidFill>
                  <a:srgbClr val="F2F5F8"/>
                </a:solidFill>
                <a:latin typeface="Tahoma"/>
              </a:rPr>
              <a:t>روش‌شناسی و محدودیت‌ها</a:t>
            </a:r>
          </a:p>
        </p:txBody>
      </p:sp>
      <p:sp>
        <p:nvSpPr>
          <p:cNvPr id="4" name="Rounded Rectangle 3"/>
          <p:cNvSpPr/>
          <p:nvPr/>
        </p:nvSpPr>
        <p:spPr>
          <a:xfrm>
            <a:off x="6355080" y="1874519"/>
            <a:ext cx="5276088" cy="402336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2103120"/>
            <a:ext cx="4846320" cy="3657600"/>
          </a:xfrm>
          <a:prstGeom prst="rect">
            <a:avLst/>
          </a:prstGeom>
          <a:noFill/>
        </p:spPr>
        <p:txBody>
          <a:bodyPr wrap="square" anchor="t">
            <a:spAutoFit/>
          </a:bodyPr>
          <a:lstStyle/>
          <a:p>
            <a:pPr algn="r" rtl="1">
              <a:lnSpc>
                <a:spcPct val="125000"/>
              </a:lnSpc>
            </a:pPr>
            <a:r>
              <a:rPr sz="1200" b="0">
                <a:solidFill>
                  <a:srgbClr val="A8B3C2"/>
                </a:solidFill>
                <a:latin typeface="Tahoma"/>
              </a:rPr>
              <a:t>منبع داده</a:t>
            </a:r>
          </a:p>
          <a:p>
            <a:pPr algn="r" rtl="1">
              <a:lnSpc>
                <a:spcPct val="125000"/>
              </a:lnSpc>
            </a:pPr>
            <a:r>
              <a:rPr sz="1200" b="0">
                <a:solidFill>
                  <a:srgbClr val="A8B3C2"/>
                </a:solidFill>
                <a:latin typeface="Tahoma"/>
              </a:rPr>
              <a:t>چهار جدول منتشرشدهٔ مدیریت گازرسانی — امور تعرفه‌ها و قراردادها: درصد مصرف و درصد تعداد مشترکین بخش خانگی، برای نیمهٔ اول (دورهٔ سرد، ۱۲ پله) و نیمهٔ دوم (دورهٔ گرم، ۴ پله) سال ۱۴۰۴.</a:t>
            </a:r>
          </a:p>
          <a:p>
            <a:pPr algn="r" rtl="1">
              <a:lnSpc>
                <a:spcPct val="125000"/>
              </a:lnSpc>
            </a:pPr>
          </a:p>
          <a:p>
            <a:pPr algn="r" rtl="1">
              <a:lnSpc>
                <a:spcPct val="125000"/>
              </a:lnSpc>
            </a:pPr>
            <a:r>
              <a:rPr sz="1200" b="0">
                <a:solidFill>
                  <a:srgbClr val="A8B3C2"/>
                </a:solidFill>
                <a:latin typeface="Tahoma"/>
              </a:rPr>
              <a:t>اعتبارسنجی</a:t>
            </a:r>
          </a:p>
          <a:p>
            <a:pPr algn="r" rtl="1">
              <a:lnSpc>
                <a:spcPct val="125000"/>
              </a:lnSpc>
            </a:pPr>
            <a:r>
              <a:rPr sz="1200" b="0">
                <a:solidFill>
                  <a:srgbClr val="A8B3C2"/>
                </a:solidFill>
                <a:latin typeface="Tahoma"/>
              </a:rPr>
              <a:t>جمع هر ردیف باید به ۱۰۰ برسد و مجموع پله‌های هر گروه باید با ردیف‌های تجمیعی جدول مبدأ بخواند. در همین بررسی یک خطای انتقالی در ردیف آذربایجان شرقی شناسایی و اصلاح شد.</a:t>
            </a:r>
          </a:p>
        </p:txBody>
      </p:sp>
      <p:sp>
        <p:nvSpPr>
          <p:cNvPr id="6" name="Rounded Rectangle 5"/>
          <p:cNvSpPr/>
          <p:nvPr/>
        </p:nvSpPr>
        <p:spPr>
          <a:xfrm>
            <a:off x="566928" y="1874519"/>
            <a:ext cx="5532120" cy="4023360"/>
          </a:xfrm>
          <a:prstGeom prst="roundRect">
            <a:avLst>
              <a:gd name="adj" fmla="val 6000"/>
            </a:avLst>
          </a:prstGeom>
          <a:solidFill>
            <a:srgbClr val="1419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2103120"/>
            <a:ext cx="5120640" cy="3657600"/>
          </a:xfrm>
          <a:prstGeom prst="rect">
            <a:avLst/>
          </a:prstGeom>
          <a:noFill/>
        </p:spPr>
        <p:txBody>
          <a:bodyPr wrap="square" anchor="t">
            <a:spAutoFit/>
          </a:bodyPr>
          <a:lstStyle/>
          <a:p>
            <a:pPr algn="r" rtl="1">
              <a:lnSpc>
                <a:spcPct val="125000"/>
              </a:lnSpc>
            </a:pPr>
            <a:r>
              <a:rPr sz="1200" b="0">
                <a:solidFill>
                  <a:srgbClr val="A8B3C2"/>
                </a:solidFill>
                <a:latin typeface="Tahoma"/>
              </a:rPr>
              <a:t>محدودیت‌ها</a:t>
            </a:r>
          </a:p>
          <a:p>
            <a:pPr algn="r" rtl="1">
              <a:lnSpc>
                <a:spcPct val="125000"/>
              </a:lnSpc>
            </a:pPr>
            <a:r>
              <a:rPr sz="1200" b="0">
                <a:solidFill>
                  <a:srgbClr val="A8B3C2"/>
                </a:solidFill>
                <a:latin typeface="Tahoma"/>
              </a:rPr>
              <a:t>• ارقام مبدأ به یک رقم اعشار گرد شده‌اند؛ هر ردیف برای محاسبه به مجموع ۱۰۰ نرمال شده است.</a:t>
            </a:r>
          </a:p>
          <a:p>
            <a:pPr algn="r" rtl="1">
              <a:lnSpc>
                <a:spcPct val="125000"/>
              </a:lnSpc>
            </a:pPr>
            <a:r>
              <a:rPr sz="1200" b="0">
                <a:solidFill>
                  <a:srgbClr val="A8B3C2"/>
                </a:solidFill>
                <a:latin typeface="Tahoma"/>
              </a:rPr>
              <a:t>• جینی محاسبه‌شده کران پایین نابرابری واقعی است؛ نابرابری درون هر پله دیده نمی‌شود.</a:t>
            </a:r>
          </a:p>
          <a:p>
            <a:pPr algn="r" rtl="1">
              <a:lnSpc>
                <a:spcPct val="125000"/>
              </a:lnSpc>
            </a:pPr>
            <a:r>
              <a:rPr sz="1200" b="0">
                <a:solidFill>
                  <a:srgbClr val="A8B3C2"/>
                </a:solidFill>
                <a:latin typeface="Tahoma"/>
              </a:rPr>
              <a:t>• داده «درصد» است، نه حجم مطلق. سهم هر استان از کل گاز کشور از این جدول‌ها قابل استخراج نیست.</a:t>
            </a:r>
          </a:p>
          <a:p>
            <a:pPr algn="r" rtl="1">
              <a:lnSpc>
                <a:spcPct val="125000"/>
              </a:lnSpc>
            </a:pPr>
            <a:r>
              <a:rPr sz="1200" b="0">
                <a:solidFill>
                  <a:srgbClr val="A8B3C2"/>
                </a:solidFill>
                <a:latin typeface="Tahoma"/>
              </a:rPr>
              <a:t>• پله‌های دو نیم‌سال هم‌ارز نیستند؛ هیچ سهم خامی بین دو دوره مقایسه نشده است.</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