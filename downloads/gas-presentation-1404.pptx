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nshore.jpg"/>
          <p:cNvPicPr>
            <a:picLocks noChangeAspect="1"/>
          </p:cNvPicPr>
          <p:nvPr/>
        </p:nvPicPr>
        <p:blipFill>
          <a:blip r:embed="rId2"/>
          <a:srcRect t="6000" b="600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91695" cy="36576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A8B3C2"/>
                </a:solidFill>
                <a:latin typeface="Tahoma"/>
              </a:rPr>
              <a:t>شرکت ملی گاز ایران — مدیریت گازرسانی — امور تعرفه‌ها و قراردادها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4800" b="1">
                <a:solidFill>
                  <a:srgbClr val="F2F5F8"/>
                </a:solidFill>
                <a:latin typeface="Tahoma"/>
              </a:rPr>
              <a:t>آناتومی یک زمستان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D95926"/>
                </a:solidFill>
                <a:latin typeface="Tahoma"/>
              </a:rPr>
              <a:t>چه کسی گاز ایران را می‌سوزاند؟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A8B3C2"/>
                </a:solidFill>
                <a:latin typeface="Tahoma"/>
              </a:rPr>
              <a:t>تحلیل مصرف گاز خانگی به تفکیک پله و استان — ۱۴۰۴</a:t>
            </a:r>
          </a:p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A8B3C2"/>
                </a:solidFill>
                <a:latin typeface="Tahoma"/>
              </a:rPr>
              <a:t>۳۱ استان · ۱۲ پلهٔ دورهٔ سرد · ۴ پلهٔ دورهٔ گرم · گزارش ۱۴۰۵/۰۵/۱۸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08040"/>
                </a:solidFill>
                <a:latin typeface="Tahoma"/>
              </a:rPr>
              <a:t>خلاصهٔ مدیریتی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>
                <a:solidFill>
                  <a:srgbClr val="F2F5F8"/>
                </a:solidFill>
                <a:latin typeface="Tahoma"/>
              </a:rPr>
              <a:t>چهار عددی که کل ماجرا را می‌گوید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54719" y="2148840"/>
            <a:ext cx="2670048" cy="228600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2148840"/>
            <a:ext cx="54864" cy="22860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377440"/>
            <a:ext cx="22585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2F5F8"/>
                </a:solidFill>
                <a:latin typeface="Tahoma"/>
              </a:rPr>
              <a:t>۸۵٫۶٪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37599" y="3246120"/>
            <a:ext cx="22585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F2F5F8"/>
                </a:solidFill>
                <a:latin typeface="Tahoma"/>
              </a:rPr>
              <a:t>مشترکین گروه کم‌مصرف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37599" y="3703320"/>
            <a:ext cx="22585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>
                <a:solidFill>
                  <a:srgbClr val="6F7D8F"/>
                </a:solidFill>
                <a:latin typeface="Tahoma"/>
              </a:rPr>
              <a:t>که ۶۶٫۹٪ از گاز را مصرف می‌کنند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3503" y="2148840"/>
            <a:ext cx="2670048" cy="228600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98687" y="2148840"/>
            <a:ext cx="54864" cy="2286000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6383" y="2377440"/>
            <a:ext cx="22585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2F5F8"/>
                </a:solidFill>
                <a:latin typeface="Tahoma"/>
              </a:rPr>
              <a:t>۳۳٫۱٪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6383" y="3246120"/>
            <a:ext cx="22585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F2F5F8"/>
                </a:solidFill>
                <a:latin typeface="Tahoma"/>
              </a:rPr>
              <a:t>گاز سوخته بالاتر از الگو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6383" y="3703320"/>
            <a:ext cx="22585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>
                <a:solidFill>
                  <a:srgbClr val="6F7D8F"/>
                </a:solidFill>
                <a:latin typeface="Tahoma"/>
              </a:rPr>
              <a:t>توسط تنها ۱۴٫۴٪ از مشترکین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2287" y="2148840"/>
            <a:ext cx="2670048" cy="228600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27471" y="2148840"/>
            <a:ext cx="54864" cy="2286000"/>
          </a:xfrm>
          <a:prstGeom prst="rect">
            <a:avLst/>
          </a:prstGeom>
          <a:solidFill>
            <a:srgbClr val="E0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5167" y="2377440"/>
            <a:ext cx="22585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2F5F8"/>
                </a:solidFill>
                <a:latin typeface="Tahoma"/>
              </a:rPr>
              <a:t>۲۴٫۶٪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5167" y="3246120"/>
            <a:ext cx="22585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F2F5F8"/>
                </a:solidFill>
                <a:latin typeface="Tahoma"/>
              </a:rPr>
              <a:t>سهم ۱۰٪ پرمصرف‌ترین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5167" y="3703320"/>
            <a:ext cx="22585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>
                <a:solidFill>
                  <a:srgbClr val="6F7D8F"/>
                </a:solidFill>
                <a:latin typeface="Tahoma"/>
              </a:rPr>
              <a:t>نیمهٔ کم‌مصرف تنها ۲۴٫۵٪ را می‌برد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071" y="2148840"/>
            <a:ext cx="2670048" cy="228600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56255" y="2148840"/>
            <a:ext cx="54864" cy="2286000"/>
          </a:xfrm>
          <a:prstGeom prst="rect">
            <a:avLst/>
          </a:prstGeom>
          <a:solidFill>
            <a:srgbClr val="F5B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" y="2377440"/>
            <a:ext cx="22585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2F5F8"/>
                </a:solidFill>
                <a:latin typeface="Tahoma"/>
              </a:rPr>
              <a:t>۵٫۲×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" y="3246120"/>
            <a:ext cx="22585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F2F5F8"/>
                </a:solidFill>
                <a:latin typeface="Tahoma"/>
              </a:rPr>
              <a:t>شدت مصرف مشترک پلهٔ ۱۲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" y="3703320"/>
            <a:ext cx="22585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>
                <a:solidFill>
                  <a:srgbClr val="6F7D8F"/>
                </a:solidFill>
                <a:latin typeface="Tahoma"/>
              </a:rPr>
              <a:t>معادل حدود ۱۱ مشترک پلهٔ 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75488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A8B3C2"/>
                </a:solidFill>
                <a:latin typeface="Tahoma"/>
              </a:rPr>
              <a:t>دو توزیع موازی وجود دارد: یکی برای تعداد مشترکین و یکی برای حجم گاز. اگر بر هم منطبق بودند، مصرف کاملاً برابر بود. فاصلهٔ میان آن‌ها همان چیزی است که این گزارش می‌سنجد.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08040"/>
                </a:solidFill>
                <a:latin typeface="Tahoma"/>
              </a:rPr>
              <a:t>نردبان پله‌ها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>
                <a:solidFill>
                  <a:srgbClr val="F2F5F8"/>
                </a:solidFill>
                <a:latin typeface="Tahoma"/>
              </a:rPr>
              <a:t>مشترک در برابر مصرف، پله به پله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11064240" cy="420624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utterf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" y="1536192"/>
            <a:ext cx="8503920" cy="39684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6072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B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6304" y="5760720"/>
            <a:ext cx="54864" cy="713232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887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A8B3C2"/>
                </a:solidFill>
                <a:latin typeface="Tahoma"/>
              </a:rPr>
              <a:t>پلهٔ ۱ با ۵۱٫۹٪ از مشترکین، ۲۵٫۴٪ از گاز را می‌برد؛ پلهٔ ۱۲ با تنها ۰٫۵٪ از مشترکین، ۲٫۶٪ را.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08040"/>
                </a:solidFill>
                <a:latin typeface="Tahoma"/>
              </a:rPr>
              <a:t>ضریب شدت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>
                <a:solidFill>
                  <a:srgbClr val="F2F5F8"/>
                </a:solidFill>
                <a:latin typeface="Tahoma"/>
              </a:rPr>
              <a:t>هر پله چند برابر مشترک متوسط گاز می‌سوزاند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11064240" cy="420624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" y="1536192"/>
            <a:ext cx="8503920" cy="39684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6072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B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6304" y="5760720"/>
            <a:ext cx="54864" cy="713232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887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A8B3C2"/>
                </a:solidFill>
                <a:latin typeface="Tahoma"/>
              </a:rPr>
              <a:t>شدت مصرف از ۰٫۵× در پلهٔ ۱ تا ۵٫۲× در پلهٔ ۱۲ بالا می‌رود.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08040"/>
                </a:solidFill>
                <a:latin typeface="Tahoma"/>
              </a:rPr>
              <a:t>جریان مصرف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>
                <a:solidFill>
                  <a:srgbClr val="F2F5F8"/>
                </a:solidFill>
                <a:latin typeface="Tahoma"/>
              </a:rPr>
              <a:t>از صد مشترک تا صد واحد گاز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11064240" cy="420624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" y="1536192"/>
            <a:ext cx="8503920" cy="39684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6072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B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6304" y="5760720"/>
            <a:ext cx="54864" cy="713232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887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A8B3C2"/>
                </a:solidFill>
                <a:latin typeface="Tahoma"/>
              </a:rPr>
              <a:t>گروه بسیار پرمصرف با ۰٫۷٪ مشترک، ۳٫۳٪ گاز را می‌برد.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08040"/>
                </a:solidFill>
                <a:latin typeface="Tahoma"/>
              </a:rPr>
              <a:t>نابرابری مصرف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>
                <a:solidFill>
                  <a:srgbClr val="F2F5F8"/>
                </a:solidFill>
                <a:latin typeface="Tahoma"/>
              </a:rPr>
              <a:t>منحنی لورنز و ضریب جینی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11064240" cy="420624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536192"/>
            <a:ext cx="6803136" cy="39684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6072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B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6304" y="5760720"/>
            <a:ext cx="54864" cy="713232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887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A8B3C2"/>
                </a:solidFill>
                <a:latin typeface="Tahoma"/>
              </a:rPr>
              <a:t>ضریب جینی کشوری ۰٫۳۳۳ است — کران پایین نابرابری واقعی، چون نابرابری درون هر پله در داده دیده نمی‌شود.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08040"/>
                </a:solidFill>
                <a:latin typeface="Tahoma"/>
              </a:rPr>
              <a:t>جغرافیای مصرف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>
                <a:solidFill>
                  <a:srgbClr val="F2F5F8"/>
                </a:solidFill>
                <a:latin typeface="Tahoma"/>
              </a:rPr>
              <a:t>سهم مصرف مازاد بر الگو، به تفکیک استان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11064240" cy="420624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854" y="1536192"/>
            <a:ext cx="7310387" cy="39684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6072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B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6304" y="5760720"/>
            <a:ext cx="54864" cy="713232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887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A8B3C2"/>
                </a:solidFill>
                <a:latin typeface="Tahoma"/>
              </a:rPr>
              <a:t>بیشترین در مازندران (۵۲٫۱٪) و کمترین در هرمزگان (۱۰٫۲٪).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08040"/>
                </a:solidFill>
                <a:latin typeface="Tahoma"/>
              </a:rPr>
              <a:t>ماتریس استان × پله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>
                <a:solidFill>
                  <a:srgbClr val="F2F5F8"/>
                </a:solidFill>
                <a:latin typeface="Tahoma"/>
              </a:rPr>
              <a:t>الگوی توزیع مصرف در هر استان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11064240" cy="420624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186" y="1536192"/>
            <a:ext cx="7631723" cy="39684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6072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B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6304" y="5760720"/>
            <a:ext cx="54864" cy="713232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887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A8B3C2"/>
                </a:solidFill>
                <a:latin typeface="Tahoma"/>
              </a:rPr>
              <a:t>ردیف‌هایی که روشنی‌شان به چپ کشیده شده، دنبالهٔ پرمصرف سنگینی دارند.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08040"/>
                </a:solidFill>
                <a:latin typeface="Tahoma"/>
              </a:rPr>
              <a:t>اقلیم در برابر رفتار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>
                <a:solidFill>
                  <a:srgbClr val="F2F5F8"/>
                </a:solidFill>
                <a:latin typeface="Tahoma"/>
              </a:rPr>
              <a:t>دما چقدر از تفاوت استان‌ها را توضیح می‌دهد؟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11064240" cy="420624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" y="1536192"/>
            <a:ext cx="8503920" cy="39684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6072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B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6304" y="5760720"/>
            <a:ext cx="54864" cy="713232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887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A8B3C2"/>
                </a:solidFill>
                <a:latin typeface="Tahoma"/>
              </a:rPr>
              <a:t>دما تنها ۴۲٪ از پراکندگی را توضیح می‌دهد؛ بقیه‌اش رفتار، عایق‌بندی و رطوبت است.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08040"/>
                </a:solidFill>
                <a:latin typeface="Tahoma"/>
              </a:rPr>
              <a:t>دو فصل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>
                <a:solidFill>
                  <a:srgbClr val="F2F5F8"/>
                </a:solidFill>
                <a:latin typeface="Tahoma"/>
              </a:rPr>
              <a:t>فاصلهٔ پرمصرف‌ترین گروه تا مشترک متوسط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11064240" cy="420624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577" y="1536192"/>
            <a:ext cx="7122941" cy="39684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6072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B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6304" y="5760720"/>
            <a:ext cx="54864" cy="713232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887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A8B3C2"/>
                </a:solidFill>
                <a:latin typeface="Tahoma"/>
              </a:rPr>
              <a:t>از ۱٫۷× در دورهٔ گرم به ۴٫۷× در دورهٔ سرد.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08040"/>
                </a:solidFill>
                <a:latin typeface="Tahoma"/>
              </a:rPr>
              <a:t>رتبه‌بندی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>
                <a:solidFill>
                  <a:srgbClr val="F2F5F8"/>
                </a:solidFill>
                <a:latin typeface="Tahoma"/>
              </a:rPr>
              <a:t>پرمصرف‌ترین و کم‌مصرف‌ترین استان‌ها نسبت به الگو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38367" y="1783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F2F5F8"/>
                </a:solidFill>
                <a:latin typeface="Tahoma"/>
              </a:rPr>
              <a:t>بیشترین مصرف مازاد بر الگو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38367" y="2286000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1567" y="2331720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مازندران</a:t>
            </a:r>
          </a:p>
        </p:txBody>
      </p:sp>
      <p:sp>
        <p:nvSpPr>
          <p:cNvPr id="7" name="Rectangle 6"/>
          <p:cNvSpPr/>
          <p:nvPr/>
        </p:nvSpPr>
        <p:spPr>
          <a:xfrm>
            <a:off x="6504127" y="2432304"/>
            <a:ext cx="2194560" cy="128016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5527" y="2331720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۵۲٫۱٪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8367" y="2798064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1567" y="2843784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کهگیلویه و بویراحمد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53660" y="2944368"/>
            <a:ext cx="2045026" cy="128016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5527" y="2843784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۴۸٫۵٪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8367" y="3310128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1567" y="3355848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گیلان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73287" y="3456432"/>
            <a:ext cx="1925399" cy="128016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5527" y="335584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۴۵٫۷٪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8367" y="3822192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1567" y="3867912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اردبیل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64691" y="3968496"/>
            <a:ext cx="1833995" cy="128016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5527" y="3867912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۴۳٫۵٪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8367" y="4334256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1567" y="4379976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آذربایجان غربی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8904" y="4480560"/>
            <a:ext cx="1829782" cy="128016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5527" y="4379976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۴۳٫۴٪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38367" y="4846320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1567" y="4892040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کردستان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270" y="4992624"/>
            <a:ext cx="1703416" cy="128016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5527" y="4892040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۴۰٫۴٪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8367" y="5358384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1567" y="5404104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همدان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5816" y="5504688"/>
            <a:ext cx="1652870" cy="128016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5527" y="5404104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۳۹٫۲٪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38367" y="5870448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1567" y="5916168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چهارمحال و بختیاری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9623" y="6016752"/>
            <a:ext cx="1609063" cy="128016"/>
          </a:xfrm>
          <a:prstGeom prst="rect">
            <a:avLst/>
          </a:prstGeom>
          <a:solidFill>
            <a:srgbClr val="F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5527" y="591616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۳۸٫۲٪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7647" y="1783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F2F5F8"/>
                </a:solidFill>
                <a:latin typeface="Tahoma"/>
              </a:rPr>
              <a:t>کمترین مصرف مازاد بر الگو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7647" y="2286000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20847" y="2331720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هرمزگان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09164" y="2432304"/>
            <a:ext cx="428802" cy="128016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4807" y="2331720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۱۰٫۲٪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7647" y="2798064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20847" y="2843784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بوشهر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3952" y="2944368"/>
            <a:ext cx="564014" cy="128016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" y="2843784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۱۳٫۴٪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7647" y="3310128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20847" y="3355848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قم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33685" y="3456432"/>
            <a:ext cx="704281" cy="128016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4807" y="335584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۱۶٫۷٪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7647" y="3822192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20847" y="3867912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خراسان جنوبی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00830" y="3968496"/>
            <a:ext cx="737136" cy="128016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4807" y="3867912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۱۷٫۵٪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7647" y="4334256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20847" y="4379976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خراسان رضوی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22483" y="4480560"/>
            <a:ext cx="815483" cy="128016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4807" y="4379976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۱۹٫۴٪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7647" y="4846320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20847" y="4892040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سیستان و بلوچستان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79519" y="4992624"/>
            <a:ext cx="858447" cy="128016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4807" y="4892040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۲۰٫۴٪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77647" y="5358384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20847" y="5404104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خوزستان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73371" y="5504688"/>
            <a:ext cx="964595" cy="128016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4807" y="5404104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۲۲٫۹٪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77647" y="5870448"/>
            <a:ext cx="5486400" cy="420624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20847" y="5916168"/>
            <a:ext cx="2606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2F5F8"/>
                </a:solidFill>
                <a:latin typeface="Tahoma"/>
              </a:rPr>
              <a:t>فارس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8940" y="6016752"/>
            <a:ext cx="989026" cy="128016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4807" y="591616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۲۳٫۵٪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08040"/>
                </a:solidFill>
                <a:latin typeface="Tahoma"/>
              </a:rPr>
              <a:t>پیوست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>
                <a:solidFill>
                  <a:srgbClr val="F2F5F8"/>
                </a:solidFill>
                <a:latin typeface="Tahoma"/>
              </a:rPr>
              <a:t>روش‌شناسی و محدودیت‌ها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1874519"/>
            <a:ext cx="5276088" cy="402336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2103120"/>
            <a:ext cx="4846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منبع داده</a:t>
            </a:r>
          </a:p>
          <a:p>
            <a:pPr algn="r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چهار جدول منتشرشدهٔ مدیریت گازرسانی — امور تعرفه‌ها و قراردادها: درصد مصرف و درصد تعداد مشترکین بخش خانگی، برای نیمهٔ اول (دورهٔ سرد، ۱۲ پله) و نیمهٔ دوم (دورهٔ گرم، ۴ پله) سال ۱۴۰۴.</a:t>
            </a:r>
          </a:p>
          <a:p>
            <a:pPr algn="r" rtl="1">
              <a:lnSpc>
                <a:spcPct val="125000"/>
              </a:lnSpc>
            </a:pPr>
          </a:p>
          <a:p>
            <a:pPr algn="r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اعتبارسنجی</a:t>
            </a:r>
          </a:p>
          <a:p>
            <a:pPr algn="r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جمع هر ردیف باید به ۱۰۰ برسد و مجموع پله‌های هر گروه باید با ردیف‌های تجمیعی جدول مبدأ بخواند. در همین بررسی یک خطای انتقالی در ردیف آذربایجان شرقی شناسایی و اصلاح شد.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5532120" cy="402336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0312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محدودیت‌ها</a:t>
            </a:r>
          </a:p>
          <a:p>
            <a:pPr algn="r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• ارقام مبدأ به یک رقم اعشار گرد شده‌اند؛ هر ردیف برای محاسبه به مجموع ۱۰۰ نرمال شده است.</a:t>
            </a:r>
          </a:p>
          <a:p>
            <a:pPr algn="r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• جینی محاسبه‌شده کران پایین نابرابری واقعی است؛ نابرابری درون هر پله دیده نمی‌شود.</a:t>
            </a:r>
          </a:p>
          <a:p>
            <a:pPr algn="r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• داده «درصد» است، نه حجم مطلق. سهم هر استان از کل گاز کشور از این جدول‌ها قابل استخراج نیست.</a:t>
            </a:r>
          </a:p>
          <a:p>
            <a:pPr algn="r" rtl="1">
              <a:lnSpc>
                <a:spcPct val="125000"/>
              </a:lnSpc>
            </a:pPr>
            <a:r>
              <a:rPr sz="1200" b="0">
                <a:solidFill>
                  <a:srgbClr val="A8B3C2"/>
                </a:solidFill>
                <a:latin typeface="Tahoma"/>
              </a:rPr>
              <a:t>• پله‌های دو نیم‌سال هم‌ارز نیستند؛ هیچ سهم خامی بین دو دوره مقایسه نشده است.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